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7" r:id="rId12"/>
    <p:sldId id="273" r:id="rId13"/>
    <p:sldId id="266" r:id="rId14"/>
    <p:sldId id="268" r:id="rId15"/>
    <p:sldId id="269"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5" d="100"/>
          <a:sy n="95" d="100"/>
        </p:scale>
        <p:origin x="1090" y="-1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fraaz14282007111@gmail.com" userId="5d97500e3b346b9e" providerId="LiveId" clId="{BAC4B985-C347-4E7B-89AD-3EC26DA2DA84}"/>
    <pc:docChg chg="modSld">
      <pc:chgData name="sarfraaz14282007111@gmail.com" userId="5d97500e3b346b9e" providerId="LiveId" clId="{BAC4B985-C347-4E7B-89AD-3EC26DA2DA84}" dt="2025-04-10T09:42:41.980" v="3" actId="1076"/>
      <pc:docMkLst>
        <pc:docMk/>
      </pc:docMkLst>
      <pc:sldChg chg="modSp mod">
        <pc:chgData name="sarfraaz14282007111@gmail.com" userId="5d97500e3b346b9e" providerId="LiveId" clId="{BAC4B985-C347-4E7B-89AD-3EC26DA2DA84}" dt="2025-04-10T09:42:41.980" v="3" actId="1076"/>
        <pc:sldMkLst>
          <pc:docMk/>
          <pc:sldMk cId="0" sldId="263"/>
        </pc:sldMkLst>
        <pc:picChg chg="mod">
          <ac:chgData name="sarfraaz14282007111@gmail.com" userId="5d97500e3b346b9e" providerId="LiveId" clId="{BAC4B985-C347-4E7B-89AD-3EC26DA2DA84}" dt="2025-04-10T09:42:41.980" v="3" actId="1076"/>
          <ac:picMkLst>
            <pc:docMk/>
            <pc:sldMk cId="0" sldId="263"/>
            <ac:picMk id="2050"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programiz.com/data-structures/queu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Array</a:t>
            </a:r>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l="33900" t="29286" r="12119" b="10768"/>
          <a:stretch>
            <a:fillRect/>
          </a:stretch>
        </p:blipFill>
        <p:spPr bwMode="auto">
          <a:xfrm>
            <a:off x="349405" y="1600200"/>
            <a:ext cx="8565995" cy="5029200"/>
          </a:xfrm>
          <a:prstGeom prst="rect">
            <a:avLst/>
          </a:prstGeom>
          <a:noFill/>
          <a:ln w="9525">
            <a:noFill/>
            <a:miter lim="800000"/>
            <a:headEnd/>
            <a:tailEnd/>
          </a:ln>
          <a:effectLst/>
        </p:spPr>
      </p:pic>
      <p:sp>
        <p:nvSpPr>
          <p:cNvPr id="5" name="TextBox 4"/>
          <p:cNvSpPr txBox="1"/>
          <p:nvPr/>
        </p:nvSpPr>
        <p:spPr>
          <a:xfrm>
            <a:off x="228600" y="228600"/>
            <a:ext cx="8610600" cy="1569660"/>
          </a:xfrm>
          <a:prstGeom prst="rect">
            <a:avLst/>
          </a:prstGeom>
          <a:noFill/>
        </p:spPr>
        <p:txBody>
          <a:bodyPr wrap="square" rtlCol="0">
            <a:spAutoFit/>
          </a:bodyPr>
          <a:lstStyle/>
          <a:p>
            <a:r>
              <a:rPr lang="en-US" sz="2400" dirty="0"/>
              <a:t>An array is a linear data structure that collects elements of the same data type and stores them in contiguous and adjacent memory locations. Arrays work on an index system starting from 0 to (n-1), where n is the size of the array.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001000" cy="6248400"/>
          </a:xfrm>
        </p:spPr>
        <p:txBody>
          <a:bodyPr>
            <a:normAutofit/>
          </a:bodyPr>
          <a:lstStyle/>
          <a:p>
            <a:r>
              <a:rPr lang="en-US" dirty="0"/>
              <a:t>There are majorly two types of arrays, they are:</a:t>
            </a:r>
          </a:p>
          <a:p>
            <a:endParaRPr lang="en-US" dirty="0"/>
          </a:p>
          <a:p>
            <a:endParaRPr lang="en-US" dirty="0"/>
          </a:p>
        </p:txBody>
      </p:sp>
      <p:pic>
        <p:nvPicPr>
          <p:cNvPr id="1026" name="Picture 2"/>
          <p:cNvPicPr>
            <a:picLocks noChangeAspect="1" noChangeArrowheads="1"/>
          </p:cNvPicPr>
          <p:nvPr/>
        </p:nvPicPr>
        <p:blipFill>
          <a:blip r:embed="rId2"/>
          <a:srcRect l="35625" t="15556" r="17500" b="7778"/>
          <a:stretch>
            <a:fillRect/>
          </a:stretch>
        </p:blipFill>
        <p:spPr bwMode="auto">
          <a:xfrm>
            <a:off x="685800" y="1447800"/>
            <a:ext cx="7924800" cy="5141794"/>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Operation</a:t>
            </a:r>
          </a:p>
        </p:txBody>
      </p:sp>
      <p:sp>
        <p:nvSpPr>
          <p:cNvPr id="3" name="Content Placeholder 2"/>
          <p:cNvSpPr>
            <a:spLocks noGrp="1"/>
          </p:cNvSpPr>
          <p:nvPr>
            <p:ph idx="1"/>
          </p:nvPr>
        </p:nvSpPr>
        <p:spPr/>
        <p:txBody>
          <a:bodyPr>
            <a:normAutofit fontScale="92500"/>
          </a:bodyPr>
          <a:lstStyle/>
          <a:p>
            <a:r>
              <a:rPr lang="en-US" b="1" dirty="0"/>
              <a:t>Traverse</a:t>
            </a:r>
            <a:r>
              <a:rPr lang="en-US" dirty="0"/>
              <a:t> − print all the array elements one by one.</a:t>
            </a:r>
          </a:p>
          <a:p>
            <a:r>
              <a:rPr lang="en-US" b="1" dirty="0"/>
              <a:t>Insertion</a:t>
            </a:r>
            <a:r>
              <a:rPr lang="en-US" dirty="0"/>
              <a:t> − Adds an element at the given index.</a:t>
            </a:r>
          </a:p>
          <a:p>
            <a:r>
              <a:rPr lang="en-US" b="1" dirty="0"/>
              <a:t>Deletion</a:t>
            </a:r>
            <a:r>
              <a:rPr lang="en-US" dirty="0"/>
              <a:t> − Deletes an element at the given index.</a:t>
            </a:r>
          </a:p>
          <a:p>
            <a:r>
              <a:rPr lang="en-US" b="1" dirty="0"/>
              <a:t>Search</a:t>
            </a:r>
            <a:r>
              <a:rPr lang="en-US" dirty="0"/>
              <a:t> − Searches an element using the given index or by the value.</a:t>
            </a:r>
          </a:p>
          <a:p>
            <a:r>
              <a:rPr lang="en-US" b="1" dirty="0"/>
              <a:t>Update</a:t>
            </a:r>
            <a:r>
              <a:rPr lang="en-US" dirty="0"/>
              <a:t> − Updates an element at the given index.</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Traversal </a:t>
            </a:r>
          </a:p>
        </p:txBody>
      </p:sp>
      <p:sp>
        <p:nvSpPr>
          <p:cNvPr id="3" name="Content Placeholder 2"/>
          <p:cNvSpPr>
            <a:spLocks noGrp="1"/>
          </p:cNvSpPr>
          <p:nvPr>
            <p:ph idx="1"/>
          </p:nvPr>
        </p:nvSpPr>
        <p:spPr/>
        <p:txBody>
          <a:bodyPr>
            <a:normAutofit fontScale="77500" lnSpcReduction="20000"/>
          </a:bodyPr>
          <a:lstStyle/>
          <a:p>
            <a:r>
              <a:rPr lang="en-US" dirty="0"/>
              <a:t>#include &lt;</a:t>
            </a:r>
            <a:r>
              <a:rPr lang="en-US" dirty="0" err="1"/>
              <a:t>iostream</a:t>
            </a:r>
            <a:r>
              <a:rPr lang="en-US" dirty="0"/>
              <a:t>&gt;  </a:t>
            </a:r>
          </a:p>
          <a:p>
            <a:r>
              <a:rPr lang="en-US" b="1" dirty="0"/>
              <a:t>using</a:t>
            </a:r>
            <a:r>
              <a:rPr lang="en-US" dirty="0"/>
              <a:t> </a:t>
            </a:r>
            <a:r>
              <a:rPr lang="en-US" b="1" dirty="0"/>
              <a:t>namespace</a:t>
            </a:r>
            <a:r>
              <a:rPr lang="en-US" dirty="0"/>
              <a:t> std;  </a:t>
            </a:r>
          </a:p>
          <a:p>
            <a:r>
              <a:rPr lang="en-US" b="1" dirty="0" err="1"/>
              <a:t>int</a:t>
            </a:r>
            <a:r>
              <a:rPr lang="en-US" dirty="0"/>
              <a:t> main()  </a:t>
            </a:r>
          </a:p>
          <a:p>
            <a:r>
              <a:rPr lang="en-US" dirty="0"/>
              <a:t>{  </a:t>
            </a:r>
          </a:p>
          <a:p>
            <a:r>
              <a:rPr lang="en-US" dirty="0"/>
              <a:t> </a:t>
            </a:r>
            <a:r>
              <a:rPr lang="en-US" b="1" dirty="0" err="1"/>
              <a:t>int</a:t>
            </a:r>
            <a:r>
              <a:rPr lang="en-US" dirty="0"/>
              <a:t> </a:t>
            </a:r>
            <a:r>
              <a:rPr lang="en-US" dirty="0" err="1"/>
              <a:t>arr</a:t>
            </a:r>
            <a:r>
              <a:rPr lang="en-US" dirty="0"/>
              <a:t>[5]={10, 0, 20, 0, 30};  //creating and initializing array    </a:t>
            </a:r>
          </a:p>
          <a:p>
            <a:r>
              <a:rPr lang="en-US" dirty="0"/>
              <a:t>        //traversing array    </a:t>
            </a:r>
          </a:p>
          <a:p>
            <a:r>
              <a:rPr lang="en-US" dirty="0"/>
              <a:t>        </a:t>
            </a:r>
            <a:r>
              <a:rPr lang="en-US" b="1" dirty="0"/>
              <a:t>for</a:t>
            </a:r>
            <a:r>
              <a:rPr lang="en-US" dirty="0"/>
              <a:t> (</a:t>
            </a:r>
            <a:r>
              <a:rPr lang="en-US" b="1" dirty="0" err="1"/>
              <a:t>int</a:t>
            </a:r>
            <a:r>
              <a:rPr lang="en-US" dirty="0"/>
              <a:t> </a:t>
            </a:r>
            <a:r>
              <a:rPr lang="en-US" dirty="0" err="1"/>
              <a:t>i</a:t>
            </a:r>
            <a:r>
              <a:rPr lang="en-US" dirty="0"/>
              <a:t> = 0; </a:t>
            </a:r>
            <a:r>
              <a:rPr lang="en-US" dirty="0" err="1"/>
              <a:t>i</a:t>
            </a:r>
            <a:r>
              <a:rPr lang="en-US" dirty="0"/>
              <a:t> &lt; 5; </a:t>
            </a:r>
            <a:r>
              <a:rPr lang="en-US" dirty="0" err="1"/>
              <a:t>i</a:t>
            </a:r>
            <a:r>
              <a:rPr lang="en-US" dirty="0"/>
              <a:t>++)    </a:t>
            </a:r>
          </a:p>
          <a:p>
            <a:r>
              <a:rPr lang="en-US" dirty="0"/>
              <a:t>        {    </a:t>
            </a:r>
          </a:p>
          <a:p>
            <a:r>
              <a:rPr lang="en-US" dirty="0"/>
              <a:t>            </a:t>
            </a:r>
            <a:r>
              <a:rPr lang="en-US" dirty="0" err="1"/>
              <a:t>cout</a:t>
            </a:r>
            <a:r>
              <a:rPr lang="en-US" dirty="0"/>
              <a:t>&lt;&lt;</a:t>
            </a:r>
            <a:r>
              <a:rPr lang="en-US" dirty="0" err="1"/>
              <a:t>arr</a:t>
            </a:r>
            <a:r>
              <a:rPr lang="en-US" dirty="0"/>
              <a:t>[</a:t>
            </a:r>
            <a:r>
              <a:rPr lang="en-US" dirty="0" err="1"/>
              <a:t>i</a:t>
            </a:r>
            <a:r>
              <a:rPr lang="en-US" dirty="0"/>
              <a:t>]&lt;&lt;"\n";    </a:t>
            </a:r>
          </a:p>
          <a:p>
            <a:r>
              <a:rPr lang="en-US" dirty="0"/>
              <a:t>        }    </a:t>
            </a:r>
          </a:p>
          <a:p>
            <a:r>
              <a:rPr lang="en-US" dirty="0"/>
              <a:t>}  </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1143000"/>
          </a:xfrm>
        </p:spPr>
        <p:txBody>
          <a:bodyPr/>
          <a:lstStyle/>
          <a:p>
            <a:r>
              <a:rPr lang="en-US" b="1" dirty="0"/>
              <a:t>Insert element in Array</a:t>
            </a:r>
          </a:p>
        </p:txBody>
      </p:sp>
      <p:sp>
        <p:nvSpPr>
          <p:cNvPr id="3" name="Content Placeholder 2"/>
          <p:cNvSpPr>
            <a:spLocks noGrp="1"/>
          </p:cNvSpPr>
          <p:nvPr>
            <p:ph idx="1"/>
          </p:nvPr>
        </p:nvSpPr>
        <p:spPr>
          <a:xfrm>
            <a:off x="152400" y="838200"/>
            <a:ext cx="8534400" cy="5867400"/>
          </a:xfrm>
        </p:spPr>
        <p:txBody>
          <a:bodyPr>
            <a:normAutofit fontScale="70000" lnSpcReduction="20000"/>
          </a:bodyPr>
          <a:lstStyle/>
          <a:p>
            <a:r>
              <a:rPr lang="en-US" dirty="0"/>
              <a:t>#include&lt;</a:t>
            </a:r>
            <a:r>
              <a:rPr lang="en-US" dirty="0" err="1"/>
              <a:t>iostream</a:t>
            </a:r>
            <a:r>
              <a:rPr lang="en-US" dirty="0"/>
              <a:t>&gt;</a:t>
            </a:r>
          </a:p>
          <a:p>
            <a:r>
              <a:rPr lang="en-US" dirty="0"/>
              <a:t>using namespace std;</a:t>
            </a:r>
          </a:p>
          <a:p>
            <a:r>
              <a:rPr lang="en-US" dirty="0" err="1"/>
              <a:t>int</a:t>
            </a:r>
            <a:r>
              <a:rPr lang="en-US" dirty="0"/>
              <a:t> main()</a:t>
            </a:r>
          </a:p>
          <a:p>
            <a:r>
              <a:rPr lang="en-US" dirty="0"/>
              <a:t>{</a:t>
            </a:r>
          </a:p>
          <a:p>
            <a:r>
              <a:rPr lang="en-US" dirty="0"/>
              <a:t>    </a:t>
            </a:r>
            <a:r>
              <a:rPr lang="en-US" dirty="0" err="1"/>
              <a:t>int</a:t>
            </a:r>
            <a:r>
              <a:rPr lang="en-US" dirty="0"/>
              <a:t> </a:t>
            </a:r>
            <a:r>
              <a:rPr lang="en-US" dirty="0" err="1"/>
              <a:t>arr</a:t>
            </a:r>
            <a:r>
              <a:rPr lang="en-US" dirty="0"/>
              <a:t>[6], </a:t>
            </a:r>
            <a:r>
              <a:rPr lang="en-US" dirty="0" err="1"/>
              <a:t>i</a:t>
            </a:r>
            <a:r>
              <a:rPr lang="en-US" dirty="0"/>
              <a:t>, </a:t>
            </a:r>
            <a:r>
              <a:rPr lang="en-US" dirty="0" err="1"/>
              <a:t>elem</a:t>
            </a:r>
            <a:r>
              <a:rPr lang="en-US" dirty="0"/>
              <a:t>;</a:t>
            </a:r>
          </a:p>
          <a:p>
            <a:r>
              <a:rPr lang="en-US" dirty="0"/>
              <a:t>    </a:t>
            </a:r>
            <a:r>
              <a:rPr lang="en-US" dirty="0" err="1"/>
              <a:t>cout</a:t>
            </a:r>
            <a:r>
              <a:rPr lang="en-US" dirty="0"/>
              <a:t>&lt;&lt;"Enter 5 Array Elements: ";</a:t>
            </a:r>
          </a:p>
          <a:p>
            <a:r>
              <a:rPr lang="en-US" dirty="0"/>
              <a:t>    for(</a:t>
            </a:r>
            <a:r>
              <a:rPr lang="en-US" dirty="0" err="1"/>
              <a:t>i</a:t>
            </a:r>
            <a:r>
              <a:rPr lang="en-US" dirty="0"/>
              <a:t>=0; </a:t>
            </a:r>
            <a:r>
              <a:rPr lang="en-US" dirty="0" err="1"/>
              <a:t>i</a:t>
            </a:r>
            <a:r>
              <a:rPr lang="en-US" dirty="0"/>
              <a:t>&lt;5; </a:t>
            </a:r>
            <a:r>
              <a:rPr lang="en-US" dirty="0" err="1"/>
              <a:t>i</a:t>
            </a:r>
            <a:r>
              <a:rPr lang="en-US" dirty="0"/>
              <a:t>++)</a:t>
            </a:r>
          </a:p>
          <a:p>
            <a:r>
              <a:rPr lang="en-US" dirty="0"/>
              <a:t>        </a:t>
            </a:r>
            <a:r>
              <a:rPr lang="en-US" dirty="0" err="1"/>
              <a:t>cin</a:t>
            </a:r>
            <a:r>
              <a:rPr lang="en-US" dirty="0"/>
              <a:t>&gt;&gt;</a:t>
            </a:r>
            <a:r>
              <a:rPr lang="en-US" dirty="0" err="1"/>
              <a:t>arr</a:t>
            </a:r>
            <a:r>
              <a:rPr lang="en-US" dirty="0"/>
              <a:t>[</a:t>
            </a:r>
            <a:r>
              <a:rPr lang="en-US" dirty="0" err="1"/>
              <a:t>i</a:t>
            </a:r>
            <a:r>
              <a:rPr lang="en-US" dirty="0"/>
              <a:t>];</a:t>
            </a:r>
          </a:p>
          <a:p>
            <a:r>
              <a:rPr lang="en-US" dirty="0"/>
              <a:t>    </a:t>
            </a:r>
            <a:r>
              <a:rPr lang="en-US" dirty="0" err="1"/>
              <a:t>cout</a:t>
            </a:r>
            <a:r>
              <a:rPr lang="en-US" dirty="0"/>
              <a:t>&lt;&lt;"\</a:t>
            </a:r>
            <a:r>
              <a:rPr lang="en-US" dirty="0" err="1"/>
              <a:t>nEnter</a:t>
            </a:r>
            <a:r>
              <a:rPr lang="en-US" dirty="0"/>
              <a:t> Element to Insert: ";</a:t>
            </a:r>
          </a:p>
          <a:p>
            <a:r>
              <a:rPr lang="en-US" dirty="0"/>
              <a:t>    </a:t>
            </a:r>
            <a:r>
              <a:rPr lang="en-US" dirty="0" err="1"/>
              <a:t>cin</a:t>
            </a:r>
            <a:r>
              <a:rPr lang="en-US" dirty="0"/>
              <a:t>&gt;&gt;</a:t>
            </a:r>
            <a:r>
              <a:rPr lang="en-US" dirty="0" err="1"/>
              <a:t>elem</a:t>
            </a:r>
            <a:r>
              <a:rPr lang="en-US" dirty="0"/>
              <a:t>;</a:t>
            </a:r>
          </a:p>
          <a:p>
            <a:r>
              <a:rPr lang="en-US" dirty="0"/>
              <a:t>    </a:t>
            </a:r>
            <a:r>
              <a:rPr lang="en-US" dirty="0" err="1"/>
              <a:t>arr</a:t>
            </a:r>
            <a:r>
              <a:rPr lang="en-US" dirty="0"/>
              <a:t>[</a:t>
            </a:r>
            <a:r>
              <a:rPr lang="en-US" dirty="0" err="1"/>
              <a:t>i</a:t>
            </a:r>
            <a:r>
              <a:rPr lang="en-US" dirty="0"/>
              <a:t>] = </a:t>
            </a:r>
            <a:r>
              <a:rPr lang="en-US" dirty="0" err="1"/>
              <a:t>elem</a:t>
            </a:r>
            <a:r>
              <a:rPr lang="en-US" dirty="0"/>
              <a:t>;</a:t>
            </a:r>
          </a:p>
          <a:p>
            <a:r>
              <a:rPr lang="en-US" dirty="0"/>
              <a:t>    </a:t>
            </a:r>
            <a:r>
              <a:rPr lang="en-US" dirty="0" err="1"/>
              <a:t>cout</a:t>
            </a:r>
            <a:r>
              <a:rPr lang="en-US" dirty="0"/>
              <a:t>&lt;&lt;"\</a:t>
            </a:r>
            <a:r>
              <a:rPr lang="en-US" dirty="0" err="1"/>
              <a:t>nThe</a:t>
            </a:r>
            <a:r>
              <a:rPr lang="en-US" dirty="0"/>
              <a:t> New Array is:\n";</a:t>
            </a:r>
          </a:p>
          <a:p>
            <a:r>
              <a:rPr lang="en-US" dirty="0"/>
              <a:t>    for(</a:t>
            </a:r>
            <a:r>
              <a:rPr lang="en-US" dirty="0" err="1"/>
              <a:t>i</a:t>
            </a:r>
            <a:r>
              <a:rPr lang="en-US" dirty="0"/>
              <a:t>=0; </a:t>
            </a:r>
            <a:r>
              <a:rPr lang="en-US" dirty="0" err="1"/>
              <a:t>i</a:t>
            </a:r>
            <a:r>
              <a:rPr lang="en-US" dirty="0"/>
              <a:t>&lt;6; </a:t>
            </a:r>
            <a:r>
              <a:rPr lang="en-US" dirty="0" err="1"/>
              <a:t>i</a:t>
            </a:r>
            <a:r>
              <a:rPr lang="en-US" dirty="0"/>
              <a:t>++)</a:t>
            </a:r>
          </a:p>
          <a:p>
            <a:r>
              <a:rPr lang="en-US" dirty="0"/>
              <a:t>        </a:t>
            </a:r>
            <a:r>
              <a:rPr lang="en-US" dirty="0" err="1"/>
              <a:t>cout</a:t>
            </a:r>
            <a:r>
              <a:rPr lang="en-US" dirty="0"/>
              <a:t>&lt;&lt;</a:t>
            </a:r>
            <a:r>
              <a:rPr lang="en-US" dirty="0" err="1"/>
              <a:t>arr</a:t>
            </a:r>
            <a:r>
              <a:rPr lang="en-US" dirty="0"/>
              <a:t>[</a:t>
            </a:r>
            <a:r>
              <a:rPr lang="en-US" dirty="0" err="1"/>
              <a:t>i</a:t>
            </a:r>
            <a:r>
              <a:rPr lang="en-US" dirty="0"/>
              <a:t>]&lt;&lt;"  ";</a:t>
            </a:r>
          </a:p>
          <a:p>
            <a:r>
              <a:rPr lang="en-US" dirty="0"/>
              <a:t>    </a:t>
            </a:r>
            <a:r>
              <a:rPr lang="en-US" dirty="0" err="1"/>
              <a:t>cout</a:t>
            </a:r>
            <a:r>
              <a:rPr lang="en-US" dirty="0"/>
              <a:t>&lt;&lt;</a:t>
            </a:r>
            <a:r>
              <a:rPr lang="en-US" dirty="0" err="1"/>
              <a:t>endl</a:t>
            </a:r>
            <a:r>
              <a:rPr lang="en-US" dirty="0"/>
              <a:t>;</a:t>
            </a:r>
          </a:p>
          <a:p>
            <a:r>
              <a:rPr lang="en-US" dirty="0"/>
              <a:t>    return 0;</a:t>
            </a:r>
          </a:p>
          <a:p>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b="1" dirty="0"/>
              <a:t>Insert element at position</a:t>
            </a:r>
          </a:p>
        </p:txBody>
      </p:sp>
      <p:pic>
        <p:nvPicPr>
          <p:cNvPr id="1026" name="Picture 2"/>
          <p:cNvPicPr>
            <a:picLocks noGrp="1" noChangeAspect="1" noChangeArrowheads="1"/>
          </p:cNvPicPr>
          <p:nvPr>
            <p:ph idx="1"/>
          </p:nvPr>
        </p:nvPicPr>
        <p:blipFill>
          <a:blip r:embed="rId2"/>
          <a:srcRect l="20333" t="19379" r="50947" b="20870"/>
          <a:stretch>
            <a:fillRect/>
          </a:stretch>
        </p:blipFill>
        <p:spPr bwMode="auto">
          <a:xfrm>
            <a:off x="990600" y="603830"/>
            <a:ext cx="6400800" cy="625417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153400" cy="487362"/>
          </a:xfrm>
        </p:spPr>
        <p:txBody>
          <a:bodyPr>
            <a:normAutofit fontScale="90000"/>
          </a:bodyPr>
          <a:lstStyle/>
          <a:p>
            <a:r>
              <a:rPr lang="en-US" dirty="0"/>
              <a:t>Delete element</a:t>
            </a:r>
          </a:p>
        </p:txBody>
      </p:sp>
      <p:pic>
        <p:nvPicPr>
          <p:cNvPr id="2050" name="Picture 2"/>
          <p:cNvPicPr>
            <a:picLocks noGrp="1" noChangeAspect="1" noChangeArrowheads="1"/>
          </p:cNvPicPr>
          <p:nvPr>
            <p:ph idx="1"/>
          </p:nvPr>
        </p:nvPicPr>
        <p:blipFill>
          <a:blip r:embed="rId2"/>
          <a:srcRect l="7404" t="28622" r="18858" b="9084"/>
          <a:stretch>
            <a:fillRect/>
          </a:stretch>
        </p:blipFill>
        <p:spPr bwMode="auto">
          <a:xfrm>
            <a:off x="-38100" y="483351"/>
            <a:ext cx="9144000" cy="2819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l="7247" t="50000" r="22475" b="5208"/>
          <a:stretch>
            <a:fillRect/>
          </a:stretch>
        </p:blipFill>
        <p:spPr bwMode="auto">
          <a:xfrm>
            <a:off x="0" y="3276600"/>
            <a:ext cx="9144000" cy="35814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lstStyle/>
          <a:p>
            <a:r>
              <a:rPr lang="en-US" dirty="0"/>
              <a:t>Update Array </a:t>
            </a:r>
          </a:p>
        </p:txBody>
      </p:sp>
      <p:pic>
        <p:nvPicPr>
          <p:cNvPr id="3074" name="Picture 2"/>
          <p:cNvPicPr>
            <a:picLocks noGrp="1" noChangeAspect="1" noChangeArrowheads="1"/>
          </p:cNvPicPr>
          <p:nvPr>
            <p:ph idx="1"/>
          </p:nvPr>
        </p:nvPicPr>
        <p:blipFill>
          <a:blip r:embed="rId2"/>
          <a:srcRect l="7404" t="28622" r="14030" b="10522"/>
          <a:stretch>
            <a:fillRect/>
          </a:stretch>
        </p:blipFill>
        <p:spPr bwMode="auto">
          <a:xfrm>
            <a:off x="1" y="609600"/>
            <a:ext cx="9143999" cy="5943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a:t>
            </a:r>
          </a:p>
        </p:txBody>
      </p:sp>
      <p:sp>
        <p:nvSpPr>
          <p:cNvPr id="3" name="Content Placeholder 2"/>
          <p:cNvSpPr>
            <a:spLocks noGrp="1"/>
          </p:cNvSpPr>
          <p:nvPr>
            <p:ph idx="1"/>
          </p:nvPr>
        </p:nvSpPr>
        <p:spPr/>
        <p:txBody>
          <a:bodyPr/>
          <a:lstStyle/>
          <a:p>
            <a:r>
              <a:rPr lang="en-US" dirty="0"/>
              <a:t>A queue is a logical group of elements in which updates or changes are introduced at one side (the "back") and existing items are deleted at the opposite end (the "front") (the "front"). When an item is introduced to the queue, it moves from the back to the front, ready to be eliminated next. This way of ordering is also known as first-in-first-out (FIFO) (first-in, first-out).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a:t>
            </a:r>
          </a:p>
        </p:txBody>
      </p:sp>
      <p:sp>
        <p:nvSpPr>
          <p:cNvPr id="3" name="Content Placeholder 2"/>
          <p:cNvSpPr>
            <a:spLocks noGrp="1"/>
          </p:cNvSpPr>
          <p:nvPr>
            <p:ph idx="1"/>
          </p:nvPr>
        </p:nvSpPr>
        <p:spPr/>
        <p:txBody>
          <a:bodyPr/>
          <a:lstStyle/>
          <a:p>
            <a:r>
              <a:rPr lang="en-US" dirty="0"/>
              <a:t>Used by OS to queue many processes. </a:t>
            </a:r>
            <a:r>
              <a:rPr lang="en-US" dirty="0" err="1"/>
              <a:t>Eg</a:t>
            </a:r>
            <a:r>
              <a:rPr lang="en-US" dirty="0"/>
              <a:t>. While we type, keystrokes might occasionally outweigh the text on the screen. The reason is that the computer is now engaged with other duties. The strokes of keys are queued in a file and eventually shown on the screen in the right sequence.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l="23496" t="28622" r="24394" b="46124"/>
          <a:stretch>
            <a:fillRect/>
          </a:stretch>
        </p:blipFill>
        <p:spPr bwMode="auto">
          <a:xfrm>
            <a:off x="152400" y="1600200"/>
            <a:ext cx="8839200" cy="22860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Different operations in Queue Data Structure:</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b="1" dirty="0" err="1"/>
              <a:t>Enqueue</a:t>
            </a:r>
            <a:r>
              <a:rPr lang="en-US" b="1" dirty="0"/>
              <a:t> operation:</a:t>
            </a:r>
            <a:r>
              <a:rPr lang="en-US" dirty="0"/>
              <a:t> The term "</a:t>
            </a:r>
            <a:r>
              <a:rPr lang="en-US" dirty="0" err="1"/>
              <a:t>enqueue</a:t>
            </a:r>
            <a:r>
              <a:rPr lang="en-US" dirty="0"/>
              <a:t>" refers to the act of adding a new element to a queue.</a:t>
            </a:r>
          </a:p>
          <a:p>
            <a:r>
              <a:rPr lang="en-US" b="1" dirty="0" err="1"/>
              <a:t>Dequeue</a:t>
            </a:r>
            <a:r>
              <a:rPr lang="en-US" b="1" dirty="0"/>
              <a:t> operation:</a:t>
            </a:r>
            <a:r>
              <a:rPr lang="en-US" dirty="0"/>
              <a:t> </a:t>
            </a:r>
            <a:r>
              <a:rPr lang="en-US" dirty="0" err="1"/>
              <a:t>Dequeue</a:t>
            </a:r>
            <a:r>
              <a:rPr lang="en-US" dirty="0"/>
              <a:t> is the process of deleting an item from a queue. </a:t>
            </a:r>
          </a:p>
          <a:p>
            <a:r>
              <a:rPr lang="en-US" b="1" dirty="0"/>
              <a:t>Front Operation:</a:t>
            </a:r>
            <a:r>
              <a:rPr lang="en-US" dirty="0"/>
              <a:t> It returns the value of the first element without deleting it.</a:t>
            </a:r>
          </a:p>
          <a:p>
            <a:r>
              <a:rPr lang="en-US" b="1" dirty="0" err="1"/>
              <a:t>isEmpty</a:t>
            </a:r>
            <a:r>
              <a:rPr lang="en-US" b="1" dirty="0"/>
              <a:t> Operation:</a:t>
            </a:r>
            <a:r>
              <a:rPr lang="en-US" dirty="0"/>
              <a:t> The </a:t>
            </a:r>
            <a:r>
              <a:rPr lang="en-US" dirty="0" err="1"/>
              <a:t>isEmpty</a:t>
            </a:r>
            <a:r>
              <a:rPr lang="en-US" dirty="0"/>
              <a:t>() function is used to check if the Queue is empty or not.</a:t>
            </a:r>
          </a:p>
          <a:p>
            <a:r>
              <a:rPr lang="en-US" b="1" dirty="0" err="1"/>
              <a:t>isFull</a:t>
            </a:r>
            <a:r>
              <a:rPr lang="en-US" b="1" dirty="0"/>
              <a:t> Operation:</a:t>
            </a:r>
            <a:r>
              <a:rPr lang="en-US" dirty="0"/>
              <a:t> The </a:t>
            </a:r>
            <a:r>
              <a:rPr lang="en-US" dirty="0" err="1"/>
              <a:t>isFull</a:t>
            </a:r>
            <a:r>
              <a:rPr lang="en-US" dirty="0"/>
              <a:t>() function is used to check if the Queue is full or not.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2"/>
          <a:srcRect l="5271" t="28125" r="24451" b="19375"/>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l="5511" t="28622" r="21603" b="12452"/>
          <a:stretch>
            <a:fillRect/>
          </a:stretch>
        </p:blipFill>
        <p:spPr bwMode="auto">
          <a:xfrm>
            <a:off x="0" y="0"/>
            <a:ext cx="9144000" cy="68580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l="4685" t="28125" r="23280" b="6250"/>
          <a:stretch>
            <a:fillRect/>
          </a:stretch>
        </p:blipFill>
        <p:spPr bwMode="auto">
          <a:xfrm>
            <a:off x="0" y="0"/>
            <a:ext cx="9372600" cy="6858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Circular Queue</a:t>
            </a:r>
          </a:p>
        </p:txBody>
      </p:sp>
      <p:sp>
        <p:nvSpPr>
          <p:cNvPr id="3" name="Content Placeholder 2"/>
          <p:cNvSpPr>
            <a:spLocks noGrp="1"/>
          </p:cNvSpPr>
          <p:nvPr>
            <p:ph idx="1"/>
          </p:nvPr>
        </p:nvSpPr>
        <p:spPr>
          <a:xfrm>
            <a:off x="457200" y="1600201"/>
            <a:ext cx="8229600" cy="2133600"/>
          </a:xfrm>
        </p:spPr>
        <p:txBody>
          <a:bodyPr/>
          <a:lstStyle/>
          <a:p>
            <a:r>
              <a:rPr lang="en-US" dirty="0"/>
              <a:t>A circular queue is the extended version of a </a:t>
            </a:r>
            <a:r>
              <a:rPr lang="en-US" dirty="0">
                <a:hlinkClick r:id="rId2"/>
              </a:rPr>
              <a:t>regular queue</a:t>
            </a:r>
            <a:r>
              <a:rPr lang="en-US" dirty="0"/>
              <a:t> where the last element is connected to the first element. Thus forming a circle-like structure.</a:t>
            </a:r>
          </a:p>
          <a:p>
            <a:endParaRPr lang="en-US" dirty="0"/>
          </a:p>
          <a:p>
            <a:endParaRPr lang="en-US" dirty="0"/>
          </a:p>
        </p:txBody>
      </p:sp>
      <p:pic>
        <p:nvPicPr>
          <p:cNvPr id="4101" name="Picture 5"/>
          <p:cNvPicPr>
            <a:picLocks noChangeAspect="1" noChangeArrowheads="1"/>
          </p:cNvPicPr>
          <p:nvPr/>
        </p:nvPicPr>
        <p:blipFill>
          <a:blip r:embed="rId3"/>
          <a:srcRect l="53514" t="25000" r="22474" b="42708"/>
          <a:stretch>
            <a:fillRect/>
          </a:stretch>
        </p:blipFill>
        <p:spPr bwMode="auto">
          <a:xfrm>
            <a:off x="1371600" y="3886200"/>
            <a:ext cx="5486400" cy="2590800"/>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l="33908" t="28622" r="7404" b="10768"/>
          <a:stretch>
            <a:fillRect/>
          </a:stretch>
        </p:blipFill>
        <p:spPr bwMode="auto">
          <a:xfrm>
            <a:off x="0" y="0"/>
            <a:ext cx="9144000" cy="6859423"/>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Circular Queue</a:t>
            </a:r>
          </a:p>
        </p:txBody>
      </p:sp>
      <p:sp>
        <p:nvSpPr>
          <p:cNvPr id="3" name="Content Placeholder 2"/>
          <p:cNvSpPr>
            <a:spLocks noGrp="1"/>
          </p:cNvSpPr>
          <p:nvPr>
            <p:ph idx="1"/>
          </p:nvPr>
        </p:nvSpPr>
        <p:spPr/>
        <p:txBody>
          <a:bodyPr/>
          <a:lstStyle/>
          <a:p>
            <a:r>
              <a:rPr lang="en-US" dirty="0"/>
              <a:t>Circular Queue works by the process of circular increment i.e. when we try to increment the pointer and we reach the end of the queue, we start from the beginning of the queue.</a:t>
            </a:r>
          </a:p>
          <a:p>
            <a:r>
              <a:rPr lang="en-US" dirty="0"/>
              <a:t>Here, the circular increment is performed by modulo division with the queue size.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sp>
        <p:nvSpPr>
          <p:cNvPr id="3" name="Content Placeholder 2"/>
          <p:cNvSpPr>
            <a:spLocks noGrp="1"/>
          </p:cNvSpPr>
          <p:nvPr>
            <p:ph idx="1"/>
          </p:nvPr>
        </p:nvSpPr>
        <p:spPr/>
        <p:txBody>
          <a:bodyPr>
            <a:normAutofit fontScale="92500" lnSpcReduction="20000"/>
          </a:bodyPr>
          <a:lstStyle/>
          <a:p>
            <a:r>
              <a:rPr lang="en-US" dirty="0"/>
              <a:t>A Stack is a linear data structure that follows the </a:t>
            </a:r>
            <a:r>
              <a:rPr lang="en-US" b="1" dirty="0"/>
              <a:t>LIFO (Last-In-First-Out)</a:t>
            </a:r>
            <a:r>
              <a:rPr lang="en-US" dirty="0"/>
              <a:t> principle. Stack has one end, whereas the Queue has two ends (</a:t>
            </a:r>
            <a:r>
              <a:rPr lang="en-US" b="1" dirty="0"/>
              <a:t>front and rear</a:t>
            </a:r>
            <a:r>
              <a:rPr lang="en-US" dirty="0"/>
              <a:t>). It contains only one pointer </a:t>
            </a:r>
            <a:r>
              <a:rPr lang="en-US" b="1" dirty="0"/>
              <a:t>top pointer</a:t>
            </a:r>
            <a:r>
              <a:rPr lang="en-US" dirty="0"/>
              <a:t> pointing to the topmost element of the stack. Whenever an element is added in the stack, it is added on the top of the stack, and the element can be deleted only from the stack. In other words, a </a:t>
            </a:r>
            <a:r>
              <a:rPr lang="en-US" b="1" i="1" dirty="0"/>
              <a:t>stack can be defined as a container in which insertion and deletion can be done from the one end known as the top of the stack.</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sp>
        <p:nvSpPr>
          <p:cNvPr id="3" name="Content Placeholder 2"/>
          <p:cNvSpPr>
            <a:spLocks noGrp="1"/>
          </p:cNvSpPr>
          <p:nvPr>
            <p:ph idx="1"/>
          </p:nvPr>
        </p:nvSpPr>
        <p:spPr/>
        <p:txBody>
          <a:bodyPr>
            <a:normAutofit/>
          </a:bodyPr>
          <a:lstStyle/>
          <a:p>
            <a:r>
              <a:rPr lang="en-US" dirty="0"/>
              <a:t>It is called as stack because it behaves like a real-world stack, piles of books, etc.</a:t>
            </a:r>
          </a:p>
          <a:p>
            <a:r>
              <a:rPr lang="en-US" dirty="0"/>
              <a:t>A Stack is an abstract data type with a pre-defined capacity, which means that it can store the elements of a limited size.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pic>
        <p:nvPicPr>
          <p:cNvPr id="1026" name="Picture 2"/>
          <p:cNvPicPr>
            <a:picLocks noGrp="1" noChangeAspect="1" noChangeArrowheads="1"/>
          </p:cNvPicPr>
          <p:nvPr>
            <p:ph idx="1"/>
          </p:nvPr>
        </p:nvPicPr>
        <p:blipFill>
          <a:blip r:embed="rId2"/>
          <a:srcRect l="17816" t="18520" r="23496" b="10768"/>
          <a:stretch>
            <a:fillRect/>
          </a:stretch>
        </p:blipFill>
        <p:spPr bwMode="auto">
          <a:xfrm>
            <a:off x="304800" y="228600"/>
            <a:ext cx="8686800" cy="63246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sp>
        <p:nvSpPr>
          <p:cNvPr id="3" name="Content Placeholder 2"/>
          <p:cNvSpPr>
            <a:spLocks noGrp="1"/>
          </p:cNvSpPr>
          <p:nvPr>
            <p:ph idx="1"/>
          </p:nvPr>
        </p:nvSpPr>
        <p:spPr/>
        <p:txBody>
          <a:bodyPr>
            <a:normAutofit/>
          </a:bodyPr>
          <a:lstStyle/>
          <a:p>
            <a:r>
              <a:rPr lang="en-US" dirty="0"/>
              <a:t>When we perform the delete operation on the stack, there is only one way for entry and exit as the other end is closed. It follows the LIFO pattern, which means that the value entered first will be removed last. In the above case, the value 5 is entered first, so it will be removed only after the deletion of all the other elements.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pic>
        <p:nvPicPr>
          <p:cNvPr id="2050" name="Picture 2"/>
          <p:cNvPicPr>
            <a:picLocks noGrp="1" noChangeAspect="1" noChangeArrowheads="1"/>
          </p:cNvPicPr>
          <p:nvPr>
            <p:ph idx="1"/>
          </p:nvPr>
        </p:nvPicPr>
        <p:blipFill>
          <a:blip r:embed="rId2"/>
          <a:srcRect l="18763" t="15153" r="27282" b="25921"/>
          <a:stretch>
            <a:fillRect/>
          </a:stretch>
        </p:blipFill>
        <p:spPr bwMode="auto">
          <a:xfrm>
            <a:off x="0" y="304800"/>
            <a:ext cx="8915400" cy="624840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sp>
        <p:nvSpPr>
          <p:cNvPr id="5" name="Content Placeholder 4"/>
          <p:cNvSpPr>
            <a:spLocks noGrp="1"/>
          </p:cNvSpPr>
          <p:nvPr>
            <p:ph idx="1"/>
          </p:nvPr>
        </p:nvSpPr>
        <p:spPr/>
        <p:txBody>
          <a:bodyPr>
            <a:normAutofit fontScale="77500" lnSpcReduction="20000"/>
          </a:bodyPr>
          <a:lstStyle/>
          <a:p>
            <a:r>
              <a:rPr lang="en-US" b="1" dirty="0"/>
              <a:t>The steps involved in the PUSH operation is given below:</a:t>
            </a:r>
            <a:endParaRPr lang="en-US" dirty="0"/>
          </a:p>
          <a:p>
            <a:r>
              <a:rPr lang="en-US" dirty="0"/>
              <a:t>Before inserting an element in a stack, we check whether the stack is full.</a:t>
            </a:r>
          </a:p>
          <a:p>
            <a:r>
              <a:rPr lang="en-US" dirty="0"/>
              <a:t>If we try to insert the element in a stack, and the stack is full, then the </a:t>
            </a:r>
            <a:r>
              <a:rPr lang="en-US" b="1" i="1" dirty="0"/>
              <a:t>overflow</a:t>
            </a:r>
            <a:r>
              <a:rPr lang="en-US" dirty="0"/>
              <a:t> condition occurs.</a:t>
            </a:r>
          </a:p>
          <a:p>
            <a:r>
              <a:rPr lang="en-US" dirty="0"/>
              <a:t>When we initialize a stack, we set the value of top as -1 to check that the stack is empty.</a:t>
            </a:r>
          </a:p>
          <a:p>
            <a:r>
              <a:rPr lang="en-US" dirty="0"/>
              <a:t>When the new element is pushed in a stack, first, the value of the top gets incremented, i.e., </a:t>
            </a:r>
            <a:r>
              <a:rPr lang="en-US" b="1" dirty="0"/>
              <a:t>top=top+1,</a:t>
            </a:r>
            <a:r>
              <a:rPr lang="en-US" dirty="0"/>
              <a:t> and the element will be placed at the new position of the </a:t>
            </a:r>
            <a:r>
              <a:rPr lang="en-US" b="1" dirty="0"/>
              <a:t>top</a:t>
            </a:r>
            <a:r>
              <a:rPr lang="en-US" dirty="0"/>
              <a:t>.</a:t>
            </a:r>
          </a:p>
          <a:p>
            <a:r>
              <a:rPr lang="en-US" dirty="0"/>
              <a:t>The elements will be inserted until we reach the </a:t>
            </a:r>
            <a:r>
              <a:rPr lang="en-US" b="1" i="1" dirty="0"/>
              <a:t>max</a:t>
            </a:r>
            <a:r>
              <a:rPr lang="en-US" dirty="0"/>
              <a:t> size of the stack.</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pic>
        <p:nvPicPr>
          <p:cNvPr id="3074" name="Picture 2"/>
          <p:cNvPicPr>
            <a:picLocks noGrp="1" noChangeAspect="1" noChangeArrowheads="1"/>
          </p:cNvPicPr>
          <p:nvPr>
            <p:ph idx="1"/>
          </p:nvPr>
        </p:nvPicPr>
        <p:blipFill>
          <a:blip r:embed="rId2"/>
          <a:srcRect l="19710" t="20203" r="27282" b="24237"/>
          <a:stretch>
            <a:fillRect/>
          </a:stretch>
        </p:blipFill>
        <p:spPr bwMode="auto">
          <a:xfrm>
            <a:off x="914400" y="1447800"/>
            <a:ext cx="7696200" cy="48768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sp>
        <p:nvSpPr>
          <p:cNvPr id="4" name="Content Placeholder 3"/>
          <p:cNvSpPr>
            <a:spLocks noGrp="1"/>
          </p:cNvSpPr>
          <p:nvPr>
            <p:ph idx="1"/>
          </p:nvPr>
        </p:nvSpPr>
        <p:spPr/>
        <p:txBody>
          <a:bodyPr>
            <a:normAutofit fontScale="92500" lnSpcReduction="20000"/>
          </a:bodyPr>
          <a:lstStyle/>
          <a:p>
            <a:r>
              <a:rPr lang="en-US" b="1" dirty="0"/>
              <a:t>The steps involved in the POP operation is given below:</a:t>
            </a:r>
            <a:endParaRPr lang="en-US" dirty="0"/>
          </a:p>
          <a:p>
            <a:r>
              <a:rPr lang="en-US" dirty="0"/>
              <a:t>Before deleting the element from the stack, we check whether the stack is empty.</a:t>
            </a:r>
          </a:p>
          <a:p>
            <a:r>
              <a:rPr lang="en-US" dirty="0"/>
              <a:t>If we try to delete the element from the empty stack, then the </a:t>
            </a:r>
            <a:r>
              <a:rPr lang="en-US" b="1" i="1" dirty="0"/>
              <a:t>underflow</a:t>
            </a:r>
            <a:r>
              <a:rPr lang="en-US" dirty="0"/>
              <a:t> condition occurs.</a:t>
            </a:r>
          </a:p>
          <a:p>
            <a:r>
              <a:rPr lang="en-US" dirty="0"/>
              <a:t>If the stack is not empty, we first access the element which is pointed by the </a:t>
            </a:r>
            <a:r>
              <a:rPr lang="en-US" b="1" i="1" dirty="0"/>
              <a:t>top</a:t>
            </a:r>
            <a:endParaRPr lang="en-US" dirty="0"/>
          </a:p>
          <a:p>
            <a:r>
              <a:rPr lang="en-US" dirty="0"/>
              <a:t>Once the pop operation is performed, the top is decremented by 1, i.e., </a:t>
            </a:r>
            <a:r>
              <a:rPr lang="en-US" b="1" dirty="0"/>
              <a:t>top=top-1</a:t>
            </a:r>
            <a:r>
              <a:rPr lang="en-US" dirty="0"/>
              <a: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Stack</a:t>
            </a:r>
          </a:p>
        </p:txBody>
      </p:sp>
      <p:pic>
        <p:nvPicPr>
          <p:cNvPr id="4098" name="Picture 2"/>
          <p:cNvPicPr>
            <a:picLocks noGrp="1" noChangeAspect="1" noChangeArrowheads="1"/>
          </p:cNvPicPr>
          <p:nvPr>
            <p:ph idx="1"/>
          </p:nvPr>
        </p:nvPicPr>
        <p:blipFill>
          <a:blip r:embed="rId2"/>
          <a:srcRect l="20656" t="30305" r="42427" b="22554"/>
          <a:stretch>
            <a:fillRect/>
          </a:stretch>
        </p:blipFill>
        <p:spPr bwMode="auto">
          <a:xfrm>
            <a:off x="914400" y="1295400"/>
            <a:ext cx="8077200" cy="51054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TotalTime>
  <Words>1085</Words>
  <Application>Microsoft Office PowerPoint</Application>
  <PresentationFormat>On-screen Show (4:3)</PresentationFormat>
  <Paragraphs>81</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Array</vt:lpstr>
      <vt:lpstr>PowerPoint Presentation</vt:lpstr>
      <vt:lpstr>PowerPoint Presentation</vt:lpstr>
      <vt:lpstr>Basic Operation</vt:lpstr>
      <vt:lpstr>Traversal </vt:lpstr>
      <vt:lpstr>Insert element in Array</vt:lpstr>
      <vt:lpstr>Insert element at position</vt:lpstr>
      <vt:lpstr>Delete element</vt:lpstr>
      <vt:lpstr>Update Array </vt:lpstr>
      <vt:lpstr>Queue</vt:lpstr>
      <vt:lpstr>Queue</vt:lpstr>
      <vt:lpstr>PowerPoint Presentation</vt:lpstr>
      <vt:lpstr>Different operations in Queue Data Structure: </vt:lpstr>
      <vt:lpstr>PowerPoint Presentation</vt:lpstr>
      <vt:lpstr>PowerPoint Presentation</vt:lpstr>
      <vt:lpstr>PowerPoint Presentation</vt:lpstr>
      <vt:lpstr>Circular Queue</vt:lpstr>
      <vt:lpstr>PowerPoint Presentation</vt:lpstr>
      <vt:lpstr>Circular Queue</vt:lpstr>
      <vt:lpstr>Stack</vt:lpstr>
      <vt:lpstr>Stack</vt:lpstr>
      <vt:lpstr>Stack</vt:lpstr>
      <vt:lpstr>Stack</vt:lpstr>
      <vt:lpstr>Stack</vt:lpstr>
      <vt:lpstr>Stack</vt:lpstr>
      <vt:lpstr>Stack</vt:lpstr>
      <vt:lpstr>Stack</vt:lpstr>
      <vt:lpstr>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dc:title>
  <dc:creator>Nirali 2</dc:creator>
  <cp:lastModifiedBy>sarfraaz14282007111@gmail.com</cp:lastModifiedBy>
  <cp:revision>24</cp:revision>
  <dcterms:created xsi:type="dcterms:W3CDTF">2006-08-16T00:00:00Z</dcterms:created>
  <dcterms:modified xsi:type="dcterms:W3CDTF">2025-04-10T09:42:49Z</dcterms:modified>
</cp:coreProperties>
</file>