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1" r:id="rId7"/>
    <p:sldId id="262" r:id="rId8"/>
    <p:sldId id="263" r:id="rId9"/>
    <p:sldId id="264" r:id="rId10"/>
    <p:sldId id="299" r:id="rId11"/>
    <p:sldId id="301" r:id="rId12"/>
    <p:sldId id="302" r:id="rId13"/>
    <p:sldId id="303" r:id="rId14"/>
    <p:sldId id="304" r:id="rId15"/>
    <p:sldId id="30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sorting-algorithm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Quick Sort</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Sort</a:t>
            </a:r>
            <a:endParaRPr lang="en-US" dirty="0"/>
          </a:p>
        </p:txBody>
      </p:sp>
      <p:sp>
        <p:nvSpPr>
          <p:cNvPr id="3" name="Content Placeholder 2"/>
          <p:cNvSpPr>
            <a:spLocks noGrp="1"/>
          </p:cNvSpPr>
          <p:nvPr>
            <p:ph idx="1"/>
          </p:nvPr>
        </p:nvSpPr>
        <p:spPr/>
        <p:txBody>
          <a:bodyPr/>
          <a:lstStyle/>
          <a:p>
            <a:r>
              <a:rPr lang="en-US" dirty="0" err="1" smtClean="0"/>
              <a:t>Quicksort</a:t>
            </a:r>
            <a:r>
              <a:rPr lang="en-US" dirty="0" smtClean="0"/>
              <a:t> works efficiently as well as faster even for larger arrays or lists.</a:t>
            </a:r>
          </a:p>
          <a:p>
            <a:r>
              <a:rPr lang="en-US" dirty="0" smtClean="0"/>
              <a:t>As a pivot value, we can choose either first, last or the middle value or any random value. The general idea is that ultimately the pivot value is placed at its proper position in the array by moving the other elements in the array to the left or right.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l="6568" t="20549" r="41442" b="33215"/>
          <a:stretch>
            <a:fillRect/>
          </a:stretch>
        </p:blipFill>
        <p:spPr bwMode="auto">
          <a:xfrm>
            <a:off x="533400" y="609600"/>
            <a:ext cx="8077200" cy="5562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l="5511" t="11785" r="46214" b="19186"/>
          <a:stretch>
            <a:fillRect/>
          </a:stretch>
        </p:blipFill>
        <p:spPr bwMode="auto">
          <a:xfrm>
            <a:off x="609600" y="304800"/>
            <a:ext cx="8001000" cy="61722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Algorithm </a:t>
            </a: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err="1" smtClean="0"/>
              <a:t>quicksort</a:t>
            </a:r>
            <a:r>
              <a:rPr lang="en-US" dirty="0" smtClean="0"/>
              <a:t>(A, low, high)</a:t>
            </a:r>
          </a:p>
          <a:p>
            <a:pPr fontAlgn="base"/>
            <a:r>
              <a:rPr lang="en-US" dirty="0" smtClean="0"/>
              <a:t>begin</a:t>
            </a:r>
          </a:p>
          <a:p>
            <a:pPr fontAlgn="base"/>
            <a:r>
              <a:rPr lang="en-US" dirty="0" smtClean="0"/>
              <a:t>Declare array A[N] to be sorted</a:t>
            </a:r>
          </a:p>
          <a:p>
            <a:pPr fontAlgn="base"/>
            <a:r>
              <a:rPr lang="en-US" dirty="0" smtClean="0"/>
              <a:t>    low = 1st element; high = last element; pivot </a:t>
            </a:r>
          </a:p>
          <a:p>
            <a:pPr fontAlgn="base"/>
            <a:r>
              <a:rPr lang="en-US" dirty="0" smtClean="0"/>
              <a:t>if(low &lt; high)</a:t>
            </a:r>
          </a:p>
          <a:p>
            <a:pPr fontAlgn="base"/>
            <a:r>
              <a:rPr lang="en-US" dirty="0" smtClean="0"/>
              <a:t>    begin</a:t>
            </a:r>
          </a:p>
          <a:p>
            <a:pPr fontAlgn="base"/>
            <a:r>
              <a:rPr lang="en-US" dirty="0" smtClean="0"/>
              <a:t>    pivot = partition (</a:t>
            </a:r>
            <a:r>
              <a:rPr lang="en-US" dirty="0" err="1" smtClean="0"/>
              <a:t>A,low,high</a:t>
            </a:r>
            <a:r>
              <a:rPr lang="en-US" dirty="0" smtClean="0"/>
              <a:t>);</a:t>
            </a:r>
          </a:p>
          <a:p>
            <a:pPr fontAlgn="base"/>
            <a:r>
              <a:rPr lang="en-US" dirty="0" smtClean="0"/>
              <a:t>    </a:t>
            </a:r>
            <a:r>
              <a:rPr lang="en-US" dirty="0" err="1" smtClean="0"/>
              <a:t>quicksort</a:t>
            </a:r>
            <a:r>
              <a:rPr lang="en-US" dirty="0" smtClean="0"/>
              <a:t>(A,low,pivot-1)</a:t>
            </a:r>
          </a:p>
          <a:p>
            <a:pPr fontAlgn="base"/>
            <a:r>
              <a:rPr lang="en-US" dirty="0" smtClean="0"/>
              <a:t>    </a:t>
            </a:r>
            <a:r>
              <a:rPr lang="en-US" dirty="0" err="1" smtClean="0"/>
              <a:t>quicksort</a:t>
            </a:r>
            <a:r>
              <a:rPr lang="en-US" dirty="0" smtClean="0"/>
              <a:t>(A,pivot+1,high)       </a:t>
            </a:r>
          </a:p>
          <a:p>
            <a:pPr fontAlgn="base"/>
            <a:r>
              <a:rPr lang="en-US" dirty="0" smtClean="0"/>
              <a:t>    End</a:t>
            </a:r>
          </a:p>
          <a:p>
            <a:pPr fontAlgn="base"/>
            <a:r>
              <a:rPr lang="en-US" dirty="0" smtClean="0"/>
              <a:t>end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t>
            </a:r>
            <a:endParaRPr lang="en-US" dirty="0"/>
          </a:p>
        </p:txBody>
      </p:sp>
      <p:sp>
        <p:nvSpPr>
          <p:cNvPr id="3" name="Content Placeholder 2"/>
          <p:cNvSpPr>
            <a:spLocks noGrp="1"/>
          </p:cNvSpPr>
          <p:nvPr>
            <p:ph idx="1"/>
          </p:nvPr>
        </p:nvSpPr>
        <p:spPr/>
        <p:txBody>
          <a:bodyPr/>
          <a:lstStyle/>
          <a:p>
            <a:r>
              <a:rPr lang="en-US" dirty="0" smtClean="0"/>
              <a:t>Merge sort algorithm uses the “</a:t>
            </a:r>
            <a:r>
              <a:rPr lang="en-US" b="1" dirty="0" smtClean="0"/>
              <a:t>divide and conquer</a:t>
            </a:r>
            <a:r>
              <a:rPr lang="en-US" dirty="0" smtClean="0"/>
              <a:t>” strategy wherein we divide the problem into </a:t>
            </a:r>
            <a:r>
              <a:rPr lang="en-US" dirty="0" err="1" smtClean="0"/>
              <a:t>subproblems</a:t>
            </a:r>
            <a:r>
              <a:rPr lang="en-US" dirty="0" smtClean="0"/>
              <a:t> and solve those </a:t>
            </a:r>
            <a:r>
              <a:rPr lang="en-US" dirty="0" err="1" smtClean="0"/>
              <a:t>subproblems</a:t>
            </a:r>
            <a:r>
              <a:rPr lang="en-US" dirty="0" smtClean="0"/>
              <a:t> individually.</a:t>
            </a:r>
          </a:p>
          <a:p>
            <a:r>
              <a:rPr lang="en-US" dirty="0" smtClean="0"/>
              <a:t>These </a:t>
            </a:r>
            <a:r>
              <a:rPr lang="en-US" dirty="0" err="1" smtClean="0"/>
              <a:t>subproblems</a:t>
            </a:r>
            <a:r>
              <a:rPr lang="en-US" dirty="0" smtClean="0"/>
              <a:t> are then combined or merged together to form a unified solution.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Merge sort is performed using the following steps:</a:t>
            </a:r>
            <a:endParaRPr lang="en-US" dirty="0" smtClean="0"/>
          </a:p>
          <a:p>
            <a:r>
              <a:rPr lang="en-US" b="1" dirty="0" smtClean="0"/>
              <a:t>#1)</a:t>
            </a:r>
            <a:r>
              <a:rPr lang="en-US" dirty="0" smtClean="0"/>
              <a:t> The list to be sorted is divided into two arrays of equal length by dividing the list on the middle element. If the number of elements in the list is either 0 or 1, then the list is considered sorted.</a:t>
            </a:r>
          </a:p>
          <a:p>
            <a:r>
              <a:rPr lang="en-US" b="1" dirty="0" smtClean="0"/>
              <a:t>#2)</a:t>
            </a:r>
            <a:r>
              <a:rPr lang="en-US" dirty="0" smtClean="0"/>
              <a:t> Each </a:t>
            </a:r>
            <a:r>
              <a:rPr lang="en-US" dirty="0" err="1" smtClean="0"/>
              <a:t>sublist</a:t>
            </a:r>
            <a:r>
              <a:rPr lang="en-US" dirty="0" smtClean="0"/>
              <a:t> is sorted individually by using merge sort recursively.</a:t>
            </a:r>
          </a:p>
          <a:p>
            <a:r>
              <a:rPr lang="en-US" b="1" dirty="0" smtClean="0"/>
              <a:t>#3)</a:t>
            </a:r>
            <a:r>
              <a:rPr lang="en-US" dirty="0" smtClean="0"/>
              <a:t> The sorted </a:t>
            </a:r>
            <a:r>
              <a:rPr lang="en-US" dirty="0" err="1" smtClean="0"/>
              <a:t>sublists</a:t>
            </a:r>
            <a:r>
              <a:rPr lang="en-US" dirty="0" smtClean="0"/>
              <a:t> are then combined or merged together to form a complete sorted list.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Declare an array </a:t>
            </a:r>
            <a:r>
              <a:rPr lang="en-US" dirty="0" err="1" smtClean="0"/>
              <a:t>Arr</a:t>
            </a:r>
            <a:r>
              <a:rPr lang="en-US" dirty="0" smtClean="0"/>
              <a:t> of length N</a:t>
            </a:r>
            <a:br>
              <a:rPr lang="en-US" dirty="0" smtClean="0"/>
            </a:br>
            <a:r>
              <a:rPr lang="en-US" dirty="0" smtClean="0"/>
              <a:t>If N=1, </a:t>
            </a:r>
            <a:r>
              <a:rPr lang="en-US" dirty="0" err="1" smtClean="0"/>
              <a:t>Arr</a:t>
            </a:r>
            <a:r>
              <a:rPr lang="en-US" dirty="0" smtClean="0"/>
              <a:t> is already sorted</a:t>
            </a:r>
            <a:br>
              <a:rPr lang="en-US" dirty="0" smtClean="0"/>
            </a:br>
            <a:r>
              <a:rPr lang="en-US" dirty="0" smtClean="0"/>
              <a:t>If N&gt;1,</a:t>
            </a:r>
            <a:br>
              <a:rPr lang="en-US" dirty="0" smtClean="0"/>
            </a:br>
            <a:r>
              <a:rPr lang="en-US" dirty="0" smtClean="0"/>
              <a:t>Left = 0, right = N-1</a:t>
            </a:r>
            <a:br>
              <a:rPr lang="en-US" dirty="0" smtClean="0"/>
            </a:br>
            <a:r>
              <a:rPr lang="en-US" dirty="0" smtClean="0"/>
              <a:t>Find middle = (left + right)/2</a:t>
            </a:r>
            <a:br>
              <a:rPr lang="en-US" dirty="0" smtClean="0"/>
            </a:br>
            <a:r>
              <a:rPr lang="en-US" dirty="0" smtClean="0"/>
              <a:t>Call </a:t>
            </a:r>
            <a:r>
              <a:rPr lang="en-US" dirty="0" err="1" smtClean="0"/>
              <a:t>merge_sort</a:t>
            </a:r>
            <a:r>
              <a:rPr lang="en-US" dirty="0" smtClean="0"/>
              <a:t>(</a:t>
            </a:r>
            <a:r>
              <a:rPr lang="en-US" dirty="0" err="1" smtClean="0"/>
              <a:t>Arr,left,middle</a:t>
            </a:r>
            <a:r>
              <a:rPr lang="en-US" dirty="0" smtClean="0"/>
              <a:t>) =&gt;sort first half recursively</a:t>
            </a:r>
            <a:br>
              <a:rPr lang="en-US" dirty="0" smtClean="0"/>
            </a:br>
            <a:r>
              <a:rPr lang="en-US" dirty="0" smtClean="0"/>
              <a:t>Call </a:t>
            </a:r>
            <a:r>
              <a:rPr lang="en-US" dirty="0" err="1" smtClean="0"/>
              <a:t>merge_sort</a:t>
            </a:r>
            <a:r>
              <a:rPr lang="en-US" dirty="0" smtClean="0"/>
              <a:t>(Arr,middle+1,right) =&gt; sort second half recursively</a:t>
            </a:r>
            <a:br>
              <a:rPr lang="en-US" dirty="0" smtClean="0"/>
            </a:br>
            <a:r>
              <a:rPr lang="en-US" dirty="0" smtClean="0"/>
              <a:t>Call merge(</a:t>
            </a:r>
            <a:r>
              <a:rPr lang="en-US" dirty="0" err="1" smtClean="0"/>
              <a:t>Arr</a:t>
            </a:r>
            <a:r>
              <a:rPr lang="en-US" dirty="0" smtClean="0"/>
              <a:t>, left, middle, right) to merge sorted arrays in above steps.</a:t>
            </a:r>
            <a:br>
              <a:rPr lang="en-US" dirty="0" smtClean="0"/>
            </a:br>
            <a:r>
              <a:rPr lang="en-US" dirty="0" smtClean="0"/>
              <a:t>Exit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l="7404" t="18919" r="51351" b="10768"/>
          <a:stretch>
            <a:fillRect/>
          </a:stretch>
        </p:blipFill>
        <p:spPr bwMode="auto">
          <a:xfrm>
            <a:off x="533399" y="304800"/>
            <a:ext cx="7870785" cy="60960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b="1" dirty="0" smtClean="0"/>
              <a:t>Bubble Sort</a:t>
            </a:r>
            <a:r>
              <a:rPr lang="en-US" dirty="0" smtClean="0"/>
              <a:t> is the simplest </a:t>
            </a:r>
            <a:r>
              <a:rPr lang="en-US" u="sng" dirty="0" smtClean="0">
                <a:hlinkClick r:id="rId2"/>
              </a:rPr>
              <a:t>sorting algorithm</a:t>
            </a:r>
            <a:r>
              <a:rPr lang="en-US" dirty="0" smtClean="0"/>
              <a:t> that works by repeatedly swapping the adjacent elements if they are in the wrong order. This algorithm is not suitable for large data sets.</a:t>
            </a:r>
          </a:p>
          <a:p>
            <a:pPr fontAlgn="base">
              <a:buNone/>
            </a:pPr>
            <a:r>
              <a:rPr lang="en-US" i="1" dirty="0" smtClean="0"/>
              <a:t>    In Bubble Sort algorithm, </a:t>
            </a:r>
          </a:p>
          <a:p>
            <a:pPr fontAlgn="base"/>
            <a:r>
              <a:rPr lang="en-US" i="1" dirty="0" smtClean="0"/>
              <a:t>traverse from left and compare adjacent elements and the higher one is placed at right side. </a:t>
            </a:r>
          </a:p>
          <a:p>
            <a:pPr fontAlgn="base"/>
            <a:r>
              <a:rPr lang="en-US" i="1" dirty="0" smtClean="0"/>
              <a:t>In this way, the largest element is moved to the rightmost end at first. </a:t>
            </a:r>
          </a:p>
          <a:p>
            <a:pPr fontAlgn="base"/>
            <a:r>
              <a:rPr lang="en-US" i="1" dirty="0" smtClean="0"/>
              <a:t>This process is then continued to find the second largest and place it and so on until the data is sorted</a:t>
            </a:r>
          </a:p>
          <a:p>
            <a:pPr fontAlgn="base"/>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sp>
        <p:nvSpPr>
          <p:cNvPr id="3" name="Content Placeholder 2"/>
          <p:cNvSpPr>
            <a:spLocks noGrp="1"/>
          </p:cNvSpPr>
          <p:nvPr>
            <p:ph idx="1"/>
          </p:nvPr>
        </p:nvSpPr>
        <p:spPr/>
        <p:txBody>
          <a:bodyPr>
            <a:normAutofit/>
          </a:bodyPr>
          <a:lstStyle/>
          <a:p>
            <a:pPr fontAlgn="base"/>
            <a:r>
              <a:rPr lang="en-US" b="1" i="1" dirty="0" smtClean="0"/>
              <a:t>Input:</a:t>
            </a:r>
            <a:r>
              <a:rPr lang="en-US" i="1" dirty="0" smtClean="0"/>
              <a:t> </a:t>
            </a:r>
            <a:r>
              <a:rPr lang="en-US" i="1" dirty="0" err="1" smtClean="0"/>
              <a:t>arr</a:t>
            </a:r>
            <a:r>
              <a:rPr lang="en-US" i="1" dirty="0" smtClean="0"/>
              <a:t>[] = {6, 0, 3, 5}</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pic>
        <p:nvPicPr>
          <p:cNvPr id="1026" name="Picture 2"/>
          <p:cNvPicPr>
            <a:picLocks noGrp="1" noChangeAspect="1" noChangeArrowheads="1"/>
          </p:cNvPicPr>
          <p:nvPr>
            <p:ph idx="1"/>
          </p:nvPr>
        </p:nvPicPr>
        <p:blipFill>
          <a:blip r:embed="rId2"/>
          <a:srcRect l="20656" t="15153" r="28229" b="37706"/>
          <a:stretch>
            <a:fillRect/>
          </a:stretch>
        </p:blipFill>
        <p:spPr bwMode="auto">
          <a:xfrm>
            <a:off x="457200" y="1371600"/>
            <a:ext cx="8686800" cy="48768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pic>
        <p:nvPicPr>
          <p:cNvPr id="2050" name="Picture 2"/>
          <p:cNvPicPr>
            <a:picLocks noGrp="1" noChangeAspect="1" noChangeArrowheads="1"/>
          </p:cNvPicPr>
          <p:nvPr>
            <p:ph idx="1"/>
          </p:nvPr>
        </p:nvPicPr>
        <p:blipFill>
          <a:blip r:embed="rId2"/>
          <a:srcRect l="20656" t="18520" r="31069" b="36022"/>
          <a:stretch>
            <a:fillRect/>
          </a:stretch>
        </p:blipFill>
        <p:spPr bwMode="auto">
          <a:xfrm>
            <a:off x="457200" y="1447800"/>
            <a:ext cx="8077199" cy="51054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sp>
        <p:nvSpPr>
          <p:cNvPr id="4" name="Content Placeholder 3"/>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srcRect l="18741" t="20833" r="32064" b="10417"/>
          <a:stretch>
            <a:fillRect/>
          </a:stretch>
        </p:blipFill>
        <p:spPr bwMode="auto">
          <a:xfrm>
            <a:off x="0" y="1219200"/>
            <a:ext cx="8839200" cy="56388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Bubble Sort</a:t>
            </a:r>
            <a:endParaRPr lang="en-US" dirty="0"/>
          </a:p>
        </p:txBody>
      </p:sp>
      <p:pic>
        <p:nvPicPr>
          <p:cNvPr id="4098" name="Picture 2"/>
          <p:cNvPicPr>
            <a:picLocks noGrp="1" noChangeAspect="1" noChangeArrowheads="1"/>
          </p:cNvPicPr>
          <p:nvPr>
            <p:ph idx="1"/>
          </p:nvPr>
        </p:nvPicPr>
        <p:blipFill>
          <a:blip r:embed="rId2"/>
          <a:srcRect l="23496" t="38099" r="50358" b="17938"/>
          <a:stretch>
            <a:fillRect/>
          </a:stretch>
        </p:blipFill>
        <p:spPr bwMode="auto">
          <a:xfrm>
            <a:off x="533400" y="0"/>
            <a:ext cx="7772400" cy="6858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1006</TotalTime>
  <Words>166</Words>
  <Application>Microsoft Office PowerPoint</Application>
  <PresentationFormat>On-screen Show (4:3)</PresentationFormat>
  <Paragraphs>38</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Quick Sort</vt:lpstr>
      <vt:lpstr>Quick Sort</vt:lpstr>
      <vt:lpstr>Slide 3</vt:lpstr>
      <vt:lpstr>Slide 4</vt:lpstr>
      <vt:lpstr>General Algorithm </vt:lpstr>
      <vt:lpstr>Merge Sort </vt:lpstr>
      <vt:lpstr>Merge Sort </vt:lpstr>
      <vt:lpstr>Merge Sort </vt:lpstr>
      <vt:lpstr>Slide 9</vt:lpstr>
      <vt:lpstr>Bubble Sort</vt:lpstr>
      <vt:lpstr>Bubble Sort</vt:lpstr>
      <vt:lpstr>Bubble Sort</vt:lpstr>
      <vt:lpstr>Bubble Sort</vt:lpstr>
      <vt:lpstr>Bubble Sort</vt:lpstr>
      <vt:lpstr>Bubble Sort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Sort</dc:title>
  <dc:creator>Nirali 2</dc:creator>
  <cp:lastModifiedBy>Nirali 2</cp:lastModifiedBy>
  <cp:revision>46</cp:revision>
  <dcterms:created xsi:type="dcterms:W3CDTF">2006-08-16T00:00:00Z</dcterms:created>
  <dcterms:modified xsi:type="dcterms:W3CDTF">2024-06-11T04:44:56Z</dcterms:modified>
</cp:coreProperties>
</file>