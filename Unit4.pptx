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9" r:id="rId14"/>
    <p:sldId id="267" r:id="rId15"/>
    <p:sldId id="270" r:id="rId16"/>
    <p:sldId id="271" r:id="rId17"/>
    <p:sldId id="273" r:id="rId18"/>
    <p:sldId id="272" r:id="rId19"/>
    <p:sldId id="275" r:id="rId20"/>
    <p:sldId id="276" r:id="rId21"/>
    <p:sldId id="277" r:id="rId22"/>
    <p:sldId id="278" r:id="rId23"/>
    <p:sldId id="279" r:id="rId24"/>
    <p:sldId id="280" r:id="rId25"/>
    <p:sldId id="281" r:id="rId26"/>
    <p:sldId id="282" r:id="rId27"/>
    <p:sldId id="283" r:id="rId28"/>
    <p:sldId id="284" r:id="rId29"/>
    <p:sldId id="27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javatpoint.com/breadth-first-search-algorith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Graph</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set of vertices, and for each vertex the neighbors of the vertex (vertices which is directly connected to it by an edge). In a weighted graph, then the weight will be associated with each edge.</a:t>
            </a:r>
          </a:p>
          <a:p>
            <a:r>
              <a:rPr lang="en-US" dirty="0" smtClean="0"/>
              <a:t>There are different ways to optimally represent a graph, depending on the density of its edges, type of operations to be performed and ease of use.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Undirected and Directed graph </a:t>
            </a:r>
            <a:endParaRPr lang="en-US" dirty="0"/>
          </a:p>
        </p:txBody>
      </p:sp>
      <p:pic>
        <p:nvPicPr>
          <p:cNvPr id="1026" name="Picture 2"/>
          <p:cNvPicPr>
            <a:picLocks noGrp="1" noChangeAspect="1" noChangeArrowheads="1"/>
          </p:cNvPicPr>
          <p:nvPr>
            <p:ph idx="1"/>
          </p:nvPr>
        </p:nvPicPr>
        <p:blipFill>
          <a:blip r:embed="rId2"/>
          <a:srcRect l="16870" t="13469" r="32962" b="5718"/>
          <a:stretch>
            <a:fillRect/>
          </a:stretch>
        </p:blipFill>
        <p:spPr bwMode="auto">
          <a:xfrm>
            <a:off x="457200" y="1519687"/>
            <a:ext cx="8305800" cy="4347713"/>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l="17816" t="16836" r="30671" b="25899"/>
          <a:stretch>
            <a:fillRect/>
          </a:stretch>
        </p:blipFill>
        <p:spPr bwMode="auto">
          <a:xfrm>
            <a:off x="0" y="381000"/>
            <a:ext cx="9144000" cy="611505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305800" cy="533400"/>
          </a:xfrm>
        </p:spPr>
        <p:txBody>
          <a:bodyPr>
            <a:normAutofit fontScale="90000"/>
          </a:bodyPr>
          <a:lstStyle/>
          <a:p>
            <a:r>
              <a:rPr lang="en-US" b="1" dirty="0" smtClean="0"/>
              <a:t>Incidence Matrix</a:t>
            </a:r>
            <a:endParaRPr lang="en-US" b="1" dirty="0"/>
          </a:p>
        </p:txBody>
      </p:sp>
      <p:pic>
        <p:nvPicPr>
          <p:cNvPr id="3076" name="Picture 4"/>
          <p:cNvPicPr>
            <a:picLocks noChangeAspect="1" noChangeArrowheads="1"/>
          </p:cNvPicPr>
          <p:nvPr/>
        </p:nvPicPr>
        <p:blipFill>
          <a:blip r:embed="rId2"/>
          <a:srcRect l="18375" t="18750" r="27160" b="6250"/>
          <a:stretch>
            <a:fillRect/>
          </a:stretch>
        </p:blipFill>
        <p:spPr bwMode="auto">
          <a:xfrm>
            <a:off x="457200" y="533399"/>
            <a:ext cx="8458200" cy="6194323"/>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Adjacency List </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Adjacency list is a linked representation.</a:t>
            </a:r>
          </a:p>
          <a:p>
            <a:r>
              <a:rPr lang="en-US" dirty="0" smtClean="0"/>
              <a:t>Every vertex of the graph contains list of its adjacent vertices.</a:t>
            </a:r>
          </a:p>
          <a:p>
            <a:r>
              <a:rPr lang="en-US" dirty="0" smtClean="0"/>
              <a:t>We have an array of vertices which is indexed by the vertex number and for each vertex v, the corresponding array element points to a </a:t>
            </a:r>
            <a:r>
              <a:rPr lang="en-US" b="1" dirty="0" smtClean="0"/>
              <a:t>singly linked list</a:t>
            </a:r>
            <a:r>
              <a:rPr lang="en-US" dirty="0" smtClean="0"/>
              <a:t> of neighbors of v.</a:t>
            </a:r>
          </a:p>
          <a:p>
            <a:pPr>
              <a:buNone/>
            </a:pPr>
            <a:r>
              <a:rPr lang="en-US" b="1" dirty="0" smtClean="0"/>
              <a:t>Pros:</a:t>
            </a:r>
            <a:endParaRPr lang="en-US" dirty="0" smtClean="0"/>
          </a:p>
          <a:p>
            <a:r>
              <a:rPr lang="en-US" dirty="0" smtClean="0"/>
              <a:t>Adjacency list saves lot of space.</a:t>
            </a:r>
          </a:p>
          <a:p>
            <a:r>
              <a:rPr lang="en-US" dirty="0" smtClean="0"/>
              <a:t>We can easily insert or delete as we use linked list.</a:t>
            </a:r>
          </a:p>
          <a:p>
            <a:r>
              <a:rPr lang="en-US" dirty="0" smtClean="0"/>
              <a:t>Such kind of representation is easy to follow and clearly shows the adjacent nodes of node.</a:t>
            </a:r>
          </a:p>
          <a:p>
            <a:pPr>
              <a:buNone/>
            </a:pPr>
            <a:r>
              <a:rPr lang="en-US" b="1" dirty="0" smtClean="0"/>
              <a:t>Cons:</a:t>
            </a:r>
            <a:endParaRPr lang="en-US" dirty="0" smtClean="0"/>
          </a:p>
          <a:p>
            <a:r>
              <a:rPr lang="en-US" dirty="0" smtClean="0"/>
              <a:t>The adjacency list allows testing whether two vertices are adjacent to each other but it is slower to support this operation.</a:t>
            </a:r>
          </a:p>
          <a:p>
            <a:endParaRPr lang="en-US"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Adjacency List</a:t>
            </a:r>
            <a:endParaRPr lang="en-US" dirty="0"/>
          </a:p>
        </p:txBody>
      </p:sp>
      <p:pic>
        <p:nvPicPr>
          <p:cNvPr id="4098" name="Picture 2"/>
          <p:cNvPicPr>
            <a:picLocks noGrp="1" noChangeAspect="1" noChangeArrowheads="1"/>
          </p:cNvPicPr>
          <p:nvPr>
            <p:ph idx="1"/>
          </p:nvPr>
        </p:nvPicPr>
        <p:blipFill>
          <a:blip r:embed="rId2"/>
          <a:srcRect l="18763" t="20203" r="32962" b="14135"/>
          <a:stretch>
            <a:fillRect/>
          </a:stretch>
        </p:blipFill>
        <p:spPr bwMode="auto">
          <a:xfrm>
            <a:off x="457200" y="1093694"/>
            <a:ext cx="8077200" cy="5477436"/>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Spanning Tree</a:t>
            </a:r>
            <a:endParaRPr lang="en-US" dirty="0"/>
          </a:p>
        </p:txBody>
      </p:sp>
      <p:sp>
        <p:nvSpPr>
          <p:cNvPr id="3" name="Content Placeholder 2"/>
          <p:cNvSpPr>
            <a:spLocks noGrp="1"/>
          </p:cNvSpPr>
          <p:nvPr>
            <p:ph idx="1"/>
          </p:nvPr>
        </p:nvSpPr>
        <p:spPr/>
        <p:txBody>
          <a:bodyPr/>
          <a:lstStyle/>
          <a:p>
            <a:r>
              <a:rPr lang="en-US" dirty="0" smtClean="0"/>
              <a:t>A spanning tree can be defined as the </a:t>
            </a:r>
            <a:r>
              <a:rPr lang="en-US" dirty="0" err="1" smtClean="0"/>
              <a:t>subgraph</a:t>
            </a:r>
            <a:r>
              <a:rPr lang="en-US" dirty="0" smtClean="0"/>
              <a:t> of an undirected connected graph. It includes all the vertices along with the least possible number of edges. If any vertex is missed, it is not a spanning tree. A spanning tree is a subset of the graph that does not have cycles, and it also cannot be disconnected.</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Spanning Tree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 spanning tree consists of (n-1) edges, where 'n' is the number of vertices (or nodes). Edges of the spanning tree may or may not have weights assigned to them. All the possible spanning trees created from the given graph G would have the same number of vertices, but the number of edges in the spanning tree would be equal to the number of vertices in the given graph minus 1.</a:t>
            </a:r>
          </a:p>
          <a:p>
            <a:r>
              <a:rPr lang="en-US" dirty="0" smtClean="0"/>
              <a:t>A complete undirected graph can have </a:t>
            </a:r>
            <a:r>
              <a:rPr lang="en-US" b="1" dirty="0" smtClean="0"/>
              <a:t>n</a:t>
            </a:r>
            <a:r>
              <a:rPr lang="en-US" b="1" baseline="30000" dirty="0" smtClean="0"/>
              <a:t>n-2</a:t>
            </a:r>
            <a:r>
              <a:rPr lang="en-US" dirty="0" smtClean="0"/>
              <a:t> number of spanning trees where </a:t>
            </a:r>
            <a:r>
              <a:rPr lang="en-US" b="1" dirty="0" smtClean="0"/>
              <a:t>n</a:t>
            </a:r>
            <a:r>
              <a:rPr lang="en-US" dirty="0" smtClean="0"/>
              <a:t> is the number of vertices in the graph. Suppose, if </a:t>
            </a:r>
            <a:r>
              <a:rPr lang="en-US" b="1" dirty="0" smtClean="0"/>
              <a:t>n = 5</a:t>
            </a:r>
            <a:r>
              <a:rPr lang="en-US" dirty="0" smtClean="0"/>
              <a:t>, the number of maximum possible spanning trees would be </a:t>
            </a:r>
            <a:r>
              <a:rPr lang="en-US" b="1" dirty="0" smtClean="0"/>
              <a:t>5</a:t>
            </a:r>
            <a:r>
              <a:rPr lang="en-US" b="1" baseline="30000" dirty="0" smtClean="0"/>
              <a:t>5-2</a:t>
            </a:r>
            <a:r>
              <a:rPr lang="en-US" b="1" dirty="0" smtClean="0"/>
              <a:t> = 125.</a:t>
            </a:r>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Applications of the spanning tree</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	Basically, a spanning tree is used to find a minimum path to connect all nodes of the graph. Some of the common applications of the spanning tree are listed as follows -</a:t>
            </a:r>
          </a:p>
          <a:p>
            <a:r>
              <a:rPr lang="en-US" dirty="0" smtClean="0"/>
              <a:t>Cluster Analysis</a:t>
            </a:r>
          </a:p>
          <a:p>
            <a:r>
              <a:rPr lang="en-US" dirty="0" smtClean="0"/>
              <a:t>Civil network planning</a:t>
            </a:r>
          </a:p>
          <a:p>
            <a:r>
              <a:rPr lang="en-US" dirty="0" smtClean="0"/>
              <a:t>Computer network routing protocol</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the travelling salesman problem we have to find the shortest possible route that visits every city exactly once and returns to the starting point for the given a set of cities. So, travelling salesman problem can be solved by contracting the minimum spanning tree.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Spanning Tree</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There can be more than one spanning tree of a connected graph G.</a:t>
            </a:r>
          </a:p>
          <a:p>
            <a:r>
              <a:rPr lang="en-US" dirty="0" smtClean="0"/>
              <a:t>A spanning tree does not have any cycles or loop.</a:t>
            </a:r>
          </a:p>
          <a:p>
            <a:r>
              <a:rPr lang="en-US" dirty="0" smtClean="0"/>
              <a:t>A spanning tree is </a:t>
            </a:r>
            <a:r>
              <a:rPr lang="en-US" b="1" dirty="0" smtClean="0"/>
              <a:t>minimally connected,</a:t>
            </a:r>
            <a:r>
              <a:rPr lang="en-US" dirty="0" smtClean="0"/>
              <a:t> so removing one edge from the tree will make the graph disconnected.</a:t>
            </a:r>
          </a:p>
          <a:p>
            <a:r>
              <a:rPr lang="en-US" dirty="0" smtClean="0"/>
              <a:t>A spanning tree is </a:t>
            </a:r>
            <a:r>
              <a:rPr lang="en-US" b="1" dirty="0" smtClean="0"/>
              <a:t>maximally acyclic,</a:t>
            </a:r>
            <a:r>
              <a:rPr lang="en-US" dirty="0" smtClean="0"/>
              <a:t> so adding one edge to the tree will create a loop.</a:t>
            </a:r>
          </a:p>
          <a:p>
            <a:r>
              <a:rPr lang="en-US" dirty="0" smtClean="0"/>
              <a:t>There can be a maximum </a:t>
            </a:r>
            <a:r>
              <a:rPr lang="en-US" b="1" dirty="0" smtClean="0"/>
              <a:t>n</a:t>
            </a:r>
            <a:r>
              <a:rPr lang="en-US" b="1" baseline="30000" dirty="0" smtClean="0"/>
              <a:t>n-2</a:t>
            </a:r>
            <a:r>
              <a:rPr lang="en-US" dirty="0" smtClean="0"/>
              <a:t> number of spanning trees that can be created from a complete graph.</a:t>
            </a:r>
          </a:p>
          <a:p>
            <a:r>
              <a:rPr lang="en-US" dirty="0" smtClean="0"/>
              <a:t>A spanning tree has </a:t>
            </a:r>
            <a:r>
              <a:rPr lang="en-US" b="1" dirty="0" smtClean="0"/>
              <a:t>n-1</a:t>
            </a:r>
            <a:r>
              <a:rPr lang="en-US" dirty="0" smtClean="0"/>
              <a:t> edges, where 'n' is the number of nodes.</a:t>
            </a:r>
          </a:p>
          <a:p>
            <a:r>
              <a:rPr lang="en-US" dirty="0" smtClean="0"/>
              <a:t>If the graph is a complete graph, then the spanning tree can be constructed by removing maximum (e-n+1) edges, where 'e' is the number of edges and 'n' is the number of vertices.</a:t>
            </a:r>
            <a:endParaRPr lang="en-US" smtClean="0"/>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Consider a complete graph G with 4 vertices. The graph G has ____ spanning trees.</a:t>
            </a:r>
          </a:p>
          <a:p>
            <a:pPr>
              <a:buNone/>
            </a:pPr>
            <a:r>
              <a:rPr lang="en-US" dirty="0" smtClean="0"/>
              <a:t>Sol:- </a:t>
            </a:r>
          </a:p>
          <a:p>
            <a:pPr>
              <a:buNone/>
            </a:pPr>
            <a:r>
              <a:rPr lang="en-US" dirty="0" smtClean="0"/>
              <a:t>A graph can have many spanning trees. And a complete graph with n vertices has n</a:t>
            </a:r>
            <a:r>
              <a:rPr lang="en-US" baseline="30000" dirty="0" smtClean="0"/>
              <a:t>(n-2)</a:t>
            </a:r>
            <a:r>
              <a:rPr lang="en-US" dirty="0" smtClean="0"/>
              <a:t> spanning trees. So, the complete graph with 4 vertices has 4</a:t>
            </a:r>
            <a:r>
              <a:rPr lang="en-US" baseline="30000" dirty="0" smtClean="0"/>
              <a:t>(4-2)</a:t>
            </a:r>
            <a:r>
              <a:rPr lang="en-US" dirty="0" smtClean="0"/>
              <a:t> = 16 spanning trees.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Complete Graph</a:t>
            </a:r>
            <a:endParaRPr lang="en-US" dirty="0"/>
          </a:p>
        </p:txBody>
      </p:sp>
      <p:pic>
        <p:nvPicPr>
          <p:cNvPr id="1026" name="Picture 2"/>
          <p:cNvPicPr>
            <a:picLocks noGrp="1" noChangeAspect="1" noChangeArrowheads="1"/>
          </p:cNvPicPr>
          <p:nvPr>
            <p:ph idx="1"/>
          </p:nvPr>
        </p:nvPicPr>
        <p:blipFill>
          <a:blip r:embed="rId2"/>
          <a:srcRect l="38641" t="15153" r="22549" b="41073"/>
          <a:stretch>
            <a:fillRect/>
          </a:stretch>
        </p:blipFill>
        <p:spPr bwMode="auto">
          <a:xfrm>
            <a:off x="533400" y="3505200"/>
            <a:ext cx="7848600" cy="25908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3"/>
          <a:srcRect l="6662" t="27083" r="65813" b="52084"/>
          <a:stretch>
            <a:fillRect/>
          </a:stretch>
        </p:blipFill>
        <p:spPr bwMode="auto">
          <a:xfrm>
            <a:off x="533400" y="1371600"/>
            <a:ext cx="8153400" cy="19050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l="16870" t="21887" r="27282" b="37706"/>
          <a:stretch>
            <a:fillRect/>
          </a:stretch>
        </p:blipFill>
        <p:spPr bwMode="auto">
          <a:xfrm>
            <a:off x="762000" y="533400"/>
            <a:ext cx="7797800" cy="48768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l="16870" t="45458" r="32962" b="22553"/>
          <a:stretch>
            <a:fillRect/>
          </a:stretch>
        </p:blipFill>
        <p:spPr bwMode="auto">
          <a:xfrm>
            <a:off x="990600" y="1676400"/>
            <a:ext cx="7467600" cy="32004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l="4564" t="21887" r="34855" b="24237"/>
          <a:stretch>
            <a:fillRect/>
          </a:stretch>
        </p:blipFill>
        <p:spPr bwMode="auto">
          <a:xfrm>
            <a:off x="0" y="609600"/>
            <a:ext cx="9144000" cy="58674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Breadth First Search </a:t>
            </a:r>
            <a:endParaRPr lang="en-US" dirty="0"/>
          </a:p>
        </p:txBody>
      </p:sp>
      <p:sp>
        <p:nvSpPr>
          <p:cNvPr id="6" name="Content Placeholder 5"/>
          <p:cNvSpPr>
            <a:spLocks noGrp="1"/>
          </p:cNvSpPr>
          <p:nvPr>
            <p:ph idx="1"/>
          </p:nvPr>
        </p:nvSpPr>
        <p:spPr/>
        <p:txBody>
          <a:bodyPr/>
          <a:lstStyle/>
          <a:p>
            <a:r>
              <a:rPr lang="en-US" dirty="0" smtClean="0">
                <a:hlinkClick r:id="rId2"/>
              </a:rPr>
              <a:t>BFS</a:t>
            </a:r>
            <a:r>
              <a:rPr lang="en-US" dirty="0" smtClean="0"/>
              <a:t> stands for </a:t>
            </a:r>
            <a:r>
              <a:rPr lang="en-US" b="1" i="1" dirty="0" smtClean="0"/>
              <a:t>Breadth First Search</a:t>
            </a:r>
            <a:r>
              <a:rPr lang="en-US" dirty="0" smtClean="0"/>
              <a:t>. It is also known as </a:t>
            </a:r>
            <a:r>
              <a:rPr lang="en-US" b="1" dirty="0" smtClean="0"/>
              <a:t>level order traversal</a:t>
            </a:r>
            <a:r>
              <a:rPr lang="en-US" dirty="0" smtClean="0"/>
              <a:t>. The Queue data structure is used for the Breadth First Search traversal. When we use the BFS algorithm for the traversal in a graph, we can consider any node as a root node.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Breadth First Search </a:t>
            </a:r>
            <a:endParaRPr lang="en-US" dirty="0"/>
          </a:p>
        </p:txBody>
      </p:sp>
      <p:pic>
        <p:nvPicPr>
          <p:cNvPr id="2050" name="Picture 2"/>
          <p:cNvPicPr>
            <a:picLocks noGrp="1" noChangeAspect="1" noChangeArrowheads="1"/>
          </p:cNvPicPr>
          <p:nvPr>
            <p:ph idx="1"/>
          </p:nvPr>
        </p:nvPicPr>
        <p:blipFill>
          <a:blip r:embed="rId2"/>
          <a:srcRect l="21603" t="42090" r="48107" b="20870"/>
          <a:stretch>
            <a:fillRect/>
          </a:stretch>
        </p:blipFill>
        <p:spPr bwMode="auto">
          <a:xfrm>
            <a:off x="1752600" y="1447800"/>
            <a:ext cx="6096000" cy="4995862"/>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Breadth First Search </a:t>
            </a:r>
            <a:endParaRPr lang="en-US" dirty="0"/>
          </a:p>
        </p:txBody>
      </p:sp>
      <p:pic>
        <p:nvPicPr>
          <p:cNvPr id="3074" name="Picture 2"/>
          <p:cNvPicPr>
            <a:picLocks noGrp="1" noChangeAspect="1" noChangeArrowheads="1"/>
          </p:cNvPicPr>
          <p:nvPr>
            <p:ph idx="1"/>
          </p:nvPr>
        </p:nvPicPr>
        <p:blipFill>
          <a:blip r:embed="rId2"/>
          <a:srcRect l="18763" t="11785" r="25389" b="7401"/>
          <a:stretch>
            <a:fillRect/>
          </a:stretch>
        </p:blipFill>
        <p:spPr bwMode="auto">
          <a:xfrm>
            <a:off x="609600" y="1327688"/>
            <a:ext cx="8153400" cy="522551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Breadth First Search </a:t>
            </a:r>
            <a:endParaRPr lang="en-US" dirty="0"/>
          </a:p>
        </p:txBody>
      </p:sp>
      <p:pic>
        <p:nvPicPr>
          <p:cNvPr id="1026" name="Picture 2"/>
          <p:cNvPicPr>
            <a:picLocks noGrp="1" noChangeAspect="1" noChangeArrowheads="1"/>
          </p:cNvPicPr>
          <p:nvPr>
            <p:ph idx="1"/>
          </p:nvPr>
        </p:nvPicPr>
        <p:blipFill>
          <a:blip r:embed="rId2"/>
          <a:srcRect l="17817" t="13469" r="25389" b="5717"/>
          <a:stretch>
            <a:fillRect/>
          </a:stretch>
        </p:blipFill>
        <p:spPr bwMode="auto">
          <a:xfrm>
            <a:off x="685800" y="1356360"/>
            <a:ext cx="7620000" cy="519684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Breadth First Search </a:t>
            </a:r>
            <a:endParaRPr lang="en-US" dirty="0"/>
          </a:p>
        </p:txBody>
      </p:sp>
      <p:pic>
        <p:nvPicPr>
          <p:cNvPr id="2050" name="Picture 2"/>
          <p:cNvPicPr>
            <a:picLocks noGrp="1" noChangeAspect="1" noChangeArrowheads="1"/>
          </p:cNvPicPr>
          <p:nvPr>
            <p:ph idx="1"/>
          </p:nvPr>
        </p:nvPicPr>
        <p:blipFill>
          <a:blip r:embed="rId2"/>
          <a:srcRect l="18000" t="16008" r="26000" b="28854"/>
          <a:stretch>
            <a:fillRect/>
          </a:stretch>
        </p:blipFill>
        <p:spPr bwMode="auto">
          <a:xfrm>
            <a:off x="533400" y="1219200"/>
            <a:ext cx="8153400" cy="52578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Depth </a:t>
            </a:r>
            <a:r>
              <a:rPr lang="en-US" dirty="0" smtClean="0"/>
              <a:t>First Search </a:t>
            </a:r>
            <a:endParaRPr lang="en-US" dirty="0"/>
          </a:p>
        </p:txBody>
      </p:sp>
      <p:sp>
        <p:nvSpPr>
          <p:cNvPr id="4" name="Content Placeholder 3"/>
          <p:cNvSpPr>
            <a:spLocks noGrp="1"/>
          </p:cNvSpPr>
          <p:nvPr>
            <p:ph idx="1"/>
          </p:nvPr>
        </p:nvSpPr>
        <p:spPr/>
        <p:txBody>
          <a:bodyPr/>
          <a:lstStyle/>
          <a:p>
            <a:r>
              <a:rPr lang="en-US" dirty="0" smtClean="0"/>
              <a:t>A standard DFS implementation puts each vertex of the graph into one of two categories:</a:t>
            </a:r>
          </a:p>
          <a:p>
            <a:r>
              <a:rPr lang="en-US" dirty="0" smtClean="0"/>
              <a:t>Visited</a:t>
            </a:r>
          </a:p>
          <a:p>
            <a:r>
              <a:rPr lang="en-US" dirty="0" smtClean="0"/>
              <a:t>Not Visited</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Depth </a:t>
            </a:r>
            <a:r>
              <a:rPr lang="en-US" dirty="0" smtClean="0"/>
              <a:t>First Search </a:t>
            </a:r>
            <a:endParaRPr lang="en-US" dirty="0"/>
          </a:p>
        </p:txBody>
      </p:sp>
      <p:sp>
        <p:nvSpPr>
          <p:cNvPr id="4" name="Content Placeholder 3"/>
          <p:cNvSpPr>
            <a:spLocks noGrp="1"/>
          </p:cNvSpPr>
          <p:nvPr>
            <p:ph idx="1"/>
          </p:nvPr>
        </p:nvSpPr>
        <p:spPr/>
        <p:txBody>
          <a:bodyPr>
            <a:normAutofit fontScale="92500" lnSpcReduction="20000"/>
          </a:bodyPr>
          <a:lstStyle/>
          <a:p>
            <a:pPr>
              <a:buNone/>
            </a:pPr>
            <a:r>
              <a:rPr lang="en-US" dirty="0" smtClean="0"/>
              <a:t>The </a:t>
            </a:r>
            <a:r>
              <a:rPr lang="en-US" dirty="0" smtClean="0"/>
              <a:t>DFS algorithm works as follows:</a:t>
            </a:r>
          </a:p>
          <a:p>
            <a:r>
              <a:rPr lang="en-US" dirty="0" smtClean="0"/>
              <a:t>Start by putting any one of the graph's vertices on top of a stack.</a:t>
            </a:r>
          </a:p>
          <a:p>
            <a:r>
              <a:rPr lang="en-US" dirty="0" smtClean="0"/>
              <a:t>Take the top item of the stack and add it to the visited list.</a:t>
            </a:r>
          </a:p>
          <a:p>
            <a:r>
              <a:rPr lang="en-US" dirty="0" smtClean="0"/>
              <a:t>Create a list of that vertex's adjacent nodes. Add the ones which aren't in the visited list to the top of the stack.</a:t>
            </a:r>
          </a:p>
          <a:p>
            <a:r>
              <a:rPr lang="en-US" dirty="0" smtClean="0"/>
              <a:t>Keep repeating steps 2 and 3 until the stack is empty.</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Depth </a:t>
            </a:r>
            <a:r>
              <a:rPr lang="en-US" dirty="0" smtClean="0"/>
              <a:t>First Search </a:t>
            </a:r>
            <a:endParaRPr lang="en-US" dirty="0"/>
          </a:p>
        </p:txBody>
      </p:sp>
      <p:pic>
        <p:nvPicPr>
          <p:cNvPr id="3074" name="Picture 2"/>
          <p:cNvPicPr>
            <a:picLocks noGrp="1" noChangeAspect="1" noChangeArrowheads="1"/>
          </p:cNvPicPr>
          <p:nvPr>
            <p:ph idx="1"/>
          </p:nvPr>
        </p:nvPicPr>
        <p:blipFill>
          <a:blip r:embed="rId2"/>
          <a:srcRect l="40534" t="52192" r="12137" b="22554"/>
          <a:stretch>
            <a:fillRect/>
          </a:stretch>
        </p:blipFill>
        <p:spPr bwMode="auto">
          <a:xfrm>
            <a:off x="1371600" y="2057400"/>
            <a:ext cx="6705600" cy="33528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lstStyle/>
          <a:p>
            <a:r>
              <a:rPr lang="en-US" dirty="0" smtClean="0"/>
              <a:t>Depth </a:t>
            </a:r>
            <a:r>
              <a:rPr lang="en-US" dirty="0" smtClean="0"/>
              <a:t>First Search </a:t>
            </a:r>
            <a:endParaRPr lang="en-US" dirty="0"/>
          </a:p>
        </p:txBody>
      </p:sp>
      <p:sp>
        <p:nvSpPr>
          <p:cNvPr id="4" name="Content Placeholder 3"/>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l="39824" t="23958" r="23280" b="8333"/>
          <a:stretch>
            <a:fillRect/>
          </a:stretch>
        </p:blipFill>
        <p:spPr bwMode="auto">
          <a:xfrm>
            <a:off x="0" y="1066800"/>
            <a:ext cx="8915400" cy="56388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lstStyle/>
          <a:p>
            <a:r>
              <a:rPr lang="en-US" dirty="0" smtClean="0"/>
              <a:t>Depth </a:t>
            </a:r>
            <a:r>
              <a:rPr lang="en-US" dirty="0" smtClean="0"/>
              <a:t>First Search </a:t>
            </a:r>
            <a:endParaRPr lang="en-US" dirty="0"/>
          </a:p>
        </p:txBody>
      </p:sp>
      <p:pic>
        <p:nvPicPr>
          <p:cNvPr id="5122" name="Picture 2"/>
          <p:cNvPicPr>
            <a:picLocks noGrp="1" noChangeAspect="1" noChangeArrowheads="1"/>
          </p:cNvPicPr>
          <p:nvPr>
            <p:ph idx="1"/>
          </p:nvPr>
        </p:nvPicPr>
        <p:blipFill>
          <a:blip r:embed="rId2"/>
          <a:srcRect l="39588" t="28622" r="22549" b="12452"/>
          <a:stretch>
            <a:fillRect/>
          </a:stretch>
        </p:blipFill>
        <p:spPr bwMode="auto">
          <a:xfrm>
            <a:off x="0" y="1066800"/>
            <a:ext cx="9144000" cy="54864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lstStyle/>
          <a:p>
            <a:r>
              <a:rPr lang="en-US" dirty="0" smtClean="0"/>
              <a:t>Depth </a:t>
            </a:r>
            <a:r>
              <a:rPr lang="en-US" dirty="0" smtClean="0"/>
              <a:t>First Search </a:t>
            </a:r>
            <a:endParaRPr lang="en-US" dirty="0"/>
          </a:p>
        </p:txBody>
      </p:sp>
      <p:sp>
        <p:nvSpPr>
          <p:cNvPr id="4" name="Content Placeholder 3"/>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srcRect l="38653" t="29167" r="22694" b="30208"/>
          <a:stretch>
            <a:fillRect/>
          </a:stretch>
        </p:blipFill>
        <p:spPr bwMode="auto">
          <a:xfrm>
            <a:off x="228600" y="1143000"/>
            <a:ext cx="8915400" cy="53340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Breadth First Search </a:t>
            </a:r>
            <a:endParaRPr lang="en-US" dirty="0"/>
          </a:p>
        </p:txBody>
      </p:sp>
      <p:pic>
        <p:nvPicPr>
          <p:cNvPr id="1026" name="Picture 2"/>
          <p:cNvPicPr>
            <a:picLocks noGrp="1" noChangeAspect="1" noChangeArrowheads="1"/>
          </p:cNvPicPr>
          <p:nvPr>
            <p:ph idx="1"/>
          </p:nvPr>
        </p:nvPicPr>
        <p:blipFill>
          <a:blip r:embed="rId2"/>
          <a:srcRect l="24106" t="33017" r="23496" b="27604"/>
          <a:stretch>
            <a:fillRect/>
          </a:stretch>
        </p:blipFill>
        <p:spPr bwMode="auto">
          <a:xfrm>
            <a:off x="228600" y="1219200"/>
            <a:ext cx="8742680" cy="51816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454</TotalTime>
  <Words>535</Words>
  <Application>Microsoft Office PowerPoint</Application>
  <PresentationFormat>On-screen Show (4:3)</PresentationFormat>
  <Paragraphs>60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Graph</vt:lpstr>
      <vt:lpstr>Slide 2</vt:lpstr>
      <vt:lpstr>Undirected and Directed graph </vt:lpstr>
      <vt:lpstr>Slide 4</vt:lpstr>
      <vt:lpstr>Incidence Matrix</vt:lpstr>
      <vt:lpstr>Adjacency List </vt:lpstr>
      <vt:lpstr>Adjacency List</vt:lpstr>
      <vt:lpstr>Spanning Tree</vt:lpstr>
      <vt:lpstr>Spanning Tree</vt:lpstr>
      <vt:lpstr>Applications of the spanning tree </vt:lpstr>
      <vt:lpstr>Slide 11</vt:lpstr>
      <vt:lpstr>Properties of Spanning Tree</vt:lpstr>
      <vt:lpstr>Slide 13</vt:lpstr>
      <vt:lpstr>Complete Graph</vt:lpstr>
      <vt:lpstr>Slide 15</vt:lpstr>
      <vt:lpstr>Slide 16</vt:lpstr>
      <vt:lpstr>Slide 17</vt:lpstr>
      <vt:lpstr>Breadth First Search </vt:lpstr>
      <vt:lpstr>Breadth First Search </vt:lpstr>
      <vt:lpstr>Breadth First Search </vt:lpstr>
      <vt:lpstr>Breadth First Search </vt:lpstr>
      <vt:lpstr>Breadth First Search </vt:lpstr>
      <vt:lpstr>Depth First Search </vt:lpstr>
      <vt:lpstr>Depth First Search </vt:lpstr>
      <vt:lpstr>Depth First Search </vt:lpstr>
      <vt:lpstr>Depth First Search </vt:lpstr>
      <vt:lpstr>Depth First Search </vt:lpstr>
      <vt:lpstr>Depth First Search </vt:lpstr>
      <vt:lpstr>Breadth First Search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dc:title>
  <dc:creator>Nirali 2</dc:creator>
  <cp:lastModifiedBy>Nirali 2</cp:lastModifiedBy>
  <cp:revision>27</cp:revision>
  <dcterms:created xsi:type="dcterms:W3CDTF">2006-08-16T00:00:00Z</dcterms:created>
  <dcterms:modified xsi:type="dcterms:W3CDTF">2024-06-12T07:56:06Z</dcterms:modified>
</cp:coreProperties>
</file>